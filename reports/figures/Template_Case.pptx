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10287000" cx="18288000"/>
  <p:notesSz cx="6858000" cy="9144000"/>
  <p:embeddedFontLst>
    <p:embeddedFont>
      <p:font typeface="Fraunces"/>
      <p:bold r:id="rId17"/>
      <p:boldItalic r:id="rId18"/>
    </p:embeddedFont>
    <p:embeddedFont>
      <p:font typeface="Montserrat"/>
      <p:regular r:id="rId19"/>
      <p:bold r:id="rId20"/>
      <p:italic r:id="rId21"/>
      <p:boldItalic r:id="rId22"/>
    </p:embeddedFont>
    <p:embeddedFont>
      <p:font typeface="Fraunces Light"/>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hE98UpOUv6xIuqQq85k949WYB5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fntdata"/><Relationship Id="rId22" Type="http://schemas.openxmlformats.org/officeDocument/2006/relationships/font" Target="fonts/Montserrat-boldItalic.fntdata"/><Relationship Id="rId21" Type="http://schemas.openxmlformats.org/officeDocument/2006/relationships/font" Target="fonts/Montserrat-italic.fntdata"/><Relationship Id="rId24" Type="http://schemas.openxmlformats.org/officeDocument/2006/relationships/font" Target="fonts/FrauncesLight-bold.fntdata"/><Relationship Id="rId23" Type="http://schemas.openxmlformats.org/officeDocument/2006/relationships/font" Target="fonts/FrauncesLigh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FrauncesLight-boldItalic.fntdata"/><Relationship Id="rId25" Type="http://schemas.openxmlformats.org/officeDocument/2006/relationships/font" Target="fonts/FrauncesLight-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Fraunces-bold.fntdata"/><Relationship Id="rId16" Type="http://schemas.openxmlformats.org/officeDocument/2006/relationships/slide" Target="slides/slide11.xml"/><Relationship Id="rId19" Type="http://schemas.openxmlformats.org/officeDocument/2006/relationships/font" Target="fonts/Montserrat-regular.fntdata"/><Relationship Id="rId18" Type="http://schemas.openxmlformats.org/officeDocument/2006/relationships/font" Target="fonts/Fraunce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cxnSp>
        <p:nvCxnSpPr>
          <p:cNvPr id="84" name="Google Shape;84;p1"/>
          <p:cNvCxnSpPr/>
          <p:nvPr/>
        </p:nvCxnSpPr>
        <p:spPr>
          <a:xfrm>
            <a:off x="6349614" y="6716325"/>
            <a:ext cx="5588773" cy="0"/>
          </a:xfrm>
          <a:prstGeom prst="straightConnector1">
            <a:avLst/>
          </a:prstGeom>
          <a:noFill/>
          <a:ln cap="flat" cmpd="sng" w="9525">
            <a:solidFill>
              <a:srgbClr val="36211B"/>
            </a:solidFill>
            <a:prstDash val="solid"/>
            <a:round/>
            <a:headEnd len="sm" w="sm" type="none"/>
            <a:tailEnd len="sm" w="sm" type="none"/>
          </a:ln>
        </p:spPr>
      </p:cxnSp>
      <p:grpSp>
        <p:nvGrpSpPr>
          <p:cNvPr id="85" name="Google Shape;85;p1"/>
          <p:cNvGrpSpPr/>
          <p:nvPr/>
        </p:nvGrpSpPr>
        <p:grpSpPr>
          <a:xfrm>
            <a:off x="-783595" y="9435076"/>
            <a:ext cx="22085340" cy="3106208"/>
            <a:chOff x="0" y="-57150"/>
            <a:chExt cx="5816715" cy="818096"/>
          </a:xfrm>
        </p:grpSpPr>
        <p:sp>
          <p:nvSpPr>
            <p:cNvPr id="86" name="Google Shape;86;p1"/>
            <p:cNvSpPr/>
            <p:nvPr/>
          </p:nvSpPr>
          <p:spPr>
            <a:xfrm>
              <a:off x="0" y="0"/>
              <a:ext cx="5816715" cy="760946"/>
            </a:xfrm>
            <a:custGeom>
              <a:rect b="b" l="l" r="r" t="t"/>
              <a:pathLst>
                <a:path extrusionOk="0" h="760946" w="5816715">
                  <a:moveTo>
                    <a:pt x="0" y="0"/>
                  </a:moveTo>
                  <a:lnTo>
                    <a:pt x="5816715" y="0"/>
                  </a:lnTo>
                  <a:lnTo>
                    <a:pt x="5816715" y="760946"/>
                  </a:lnTo>
                  <a:lnTo>
                    <a:pt x="0" y="760946"/>
                  </a:lnTo>
                  <a:close/>
                </a:path>
              </a:pathLst>
            </a:custGeom>
            <a:solidFill>
              <a:srgbClr val="FFD966"/>
            </a:solidFill>
            <a:ln>
              <a:noFill/>
            </a:ln>
          </p:spPr>
        </p:sp>
        <p:sp>
          <p:nvSpPr>
            <p:cNvPr id="87" name="Google Shape;87;p1"/>
            <p:cNvSpPr txBox="1"/>
            <p:nvPr/>
          </p:nvSpPr>
          <p:spPr>
            <a:xfrm>
              <a:off x="0" y="-57150"/>
              <a:ext cx="5816715" cy="818096"/>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8" name="Google Shape;88;p1"/>
          <p:cNvSpPr txBox="1"/>
          <p:nvPr/>
        </p:nvSpPr>
        <p:spPr>
          <a:xfrm>
            <a:off x="3662490" y="3543300"/>
            <a:ext cx="10963021" cy="1600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2000" u="none" cap="none" strike="noStrike">
                <a:solidFill>
                  <a:srgbClr val="434343"/>
                </a:solidFill>
                <a:latin typeface="Fraunces"/>
                <a:ea typeface="Fraunces"/>
                <a:cs typeface="Fraunces"/>
                <a:sym typeface="Fraunces"/>
              </a:rPr>
              <a:t>Case Fraude</a:t>
            </a:r>
            <a:endParaRPr/>
          </a:p>
        </p:txBody>
      </p:sp>
      <p:sp>
        <p:nvSpPr>
          <p:cNvPr id="89" name="Google Shape;89;p1"/>
          <p:cNvSpPr txBox="1"/>
          <p:nvPr/>
        </p:nvSpPr>
        <p:spPr>
          <a:xfrm>
            <a:off x="3662490" y="6098153"/>
            <a:ext cx="10962900" cy="554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3600">
                <a:solidFill>
                  <a:srgbClr val="434343"/>
                </a:solidFill>
                <a:latin typeface="Fraunces Light"/>
                <a:ea typeface="Fraunces Light"/>
                <a:cs typeface="Fraunces Light"/>
                <a:sym typeface="Fraunces Light"/>
              </a:rPr>
              <a:t>Seu nome + Linkedin + Email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cxnSp>
        <p:nvCxnSpPr>
          <p:cNvPr id="94" name="Google Shape;94;p2"/>
          <p:cNvCxnSpPr/>
          <p:nvPr/>
        </p:nvCxnSpPr>
        <p:spPr>
          <a:xfrm flipH="1" rot="10800000">
            <a:off x="7953731" y="4030734"/>
            <a:ext cx="24610" cy="3768362"/>
          </a:xfrm>
          <a:prstGeom prst="straightConnector1">
            <a:avLst/>
          </a:prstGeom>
          <a:noFill/>
          <a:ln cap="flat" cmpd="sng" w="9525">
            <a:solidFill>
              <a:srgbClr val="36211B"/>
            </a:solidFill>
            <a:prstDash val="solid"/>
            <a:round/>
            <a:headEnd len="sm" w="sm" type="none"/>
            <a:tailEnd len="sm" w="sm" type="none"/>
          </a:ln>
        </p:spPr>
      </p:cxnSp>
      <p:grpSp>
        <p:nvGrpSpPr>
          <p:cNvPr id="95" name="Google Shape;95;p2"/>
          <p:cNvGrpSpPr/>
          <p:nvPr/>
        </p:nvGrpSpPr>
        <p:grpSpPr>
          <a:xfrm>
            <a:off x="10283485" y="-216991"/>
            <a:ext cx="8820327" cy="10767376"/>
            <a:chOff x="0" y="-57150"/>
            <a:chExt cx="2323049" cy="2835852"/>
          </a:xfrm>
        </p:grpSpPr>
        <p:sp>
          <p:nvSpPr>
            <p:cNvPr id="96" name="Google Shape;96;p2"/>
            <p:cNvSpPr/>
            <p:nvPr/>
          </p:nvSpPr>
          <p:spPr>
            <a:xfrm>
              <a:off x="0" y="0"/>
              <a:ext cx="2323049" cy="2778702"/>
            </a:xfrm>
            <a:custGeom>
              <a:rect b="b" l="l" r="r" t="t"/>
              <a:pathLst>
                <a:path extrusionOk="0" h="2778702" w="2323049">
                  <a:moveTo>
                    <a:pt x="0" y="0"/>
                  </a:moveTo>
                  <a:lnTo>
                    <a:pt x="2323049" y="0"/>
                  </a:lnTo>
                  <a:lnTo>
                    <a:pt x="2323049" y="2778702"/>
                  </a:lnTo>
                  <a:lnTo>
                    <a:pt x="0" y="2778702"/>
                  </a:lnTo>
                  <a:close/>
                </a:path>
              </a:pathLst>
            </a:custGeom>
            <a:solidFill>
              <a:srgbClr val="434343"/>
            </a:solidFill>
            <a:ln>
              <a:noFill/>
            </a:ln>
          </p:spPr>
        </p:sp>
        <p:sp>
          <p:nvSpPr>
            <p:cNvPr id="97" name="Google Shape;97;p2"/>
            <p:cNvSpPr txBox="1"/>
            <p:nvPr/>
          </p:nvSpPr>
          <p:spPr>
            <a:xfrm>
              <a:off x="0" y="-57150"/>
              <a:ext cx="2323049" cy="2835852"/>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8" name="Google Shape;98;p2"/>
          <p:cNvGrpSpPr/>
          <p:nvPr/>
        </p:nvGrpSpPr>
        <p:grpSpPr>
          <a:xfrm>
            <a:off x="-1877587" y="-2489088"/>
            <a:ext cx="22085340" cy="3462486"/>
            <a:chOff x="0" y="-57150"/>
            <a:chExt cx="5816715" cy="911931"/>
          </a:xfrm>
        </p:grpSpPr>
        <p:sp>
          <p:nvSpPr>
            <p:cNvPr id="99" name="Google Shape;99;p2"/>
            <p:cNvSpPr/>
            <p:nvPr/>
          </p:nvSpPr>
          <p:spPr>
            <a:xfrm>
              <a:off x="0" y="0"/>
              <a:ext cx="5816715" cy="854781"/>
            </a:xfrm>
            <a:custGeom>
              <a:rect b="b" l="l" r="r" t="t"/>
              <a:pathLst>
                <a:path extrusionOk="0" h="854781" w="5816715">
                  <a:moveTo>
                    <a:pt x="0" y="0"/>
                  </a:moveTo>
                  <a:lnTo>
                    <a:pt x="5816715" y="0"/>
                  </a:lnTo>
                  <a:lnTo>
                    <a:pt x="5816715" y="854781"/>
                  </a:lnTo>
                  <a:lnTo>
                    <a:pt x="0" y="854781"/>
                  </a:lnTo>
                  <a:close/>
                </a:path>
              </a:pathLst>
            </a:custGeom>
            <a:solidFill>
              <a:srgbClr val="FFD966"/>
            </a:solidFill>
            <a:ln>
              <a:noFill/>
            </a:ln>
          </p:spPr>
        </p:sp>
        <p:sp>
          <p:nvSpPr>
            <p:cNvPr id="100" name="Google Shape;100;p2"/>
            <p:cNvSpPr txBox="1"/>
            <p:nvPr/>
          </p:nvSpPr>
          <p:spPr>
            <a:xfrm>
              <a:off x="0" y="-57150"/>
              <a:ext cx="5816715" cy="91193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1" name="Google Shape;101;p2"/>
          <p:cNvSpPr txBox="1"/>
          <p:nvPr/>
        </p:nvSpPr>
        <p:spPr>
          <a:xfrm>
            <a:off x="1151752" y="2364048"/>
            <a:ext cx="10963021" cy="109474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399" u="none" cap="none" strike="noStrike">
                <a:solidFill>
                  <a:srgbClr val="434343"/>
                </a:solidFill>
                <a:latin typeface="Fraunces"/>
                <a:ea typeface="Fraunces"/>
                <a:cs typeface="Fraunces"/>
                <a:sym typeface="Fraunces"/>
              </a:rPr>
              <a:t>Modelo de Fraude</a:t>
            </a:r>
            <a:endParaRPr/>
          </a:p>
        </p:txBody>
      </p:sp>
      <p:sp>
        <p:nvSpPr>
          <p:cNvPr id="102" name="Google Shape;102;p2"/>
          <p:cNvSpPr txBox="1"/>
          <p:nvPr/>
        </p:nvSpPr>
        <p:spPr>
          <a:xfrm>
            <a:off x="15160864" y="8862060"/>
            <a:ext cx="2098436" cy="39624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0" i="0" lang="en-US" sz="2400" u="none" cap="none" strike="noStrike">
                <a:solidFill>
                  <a:srgbClr val="434343"/>
                </a:solidFill>
                <a:latin typeface="Fraunces Light"/>
                <a:ea typeface="Fraunces Light"/>
                <a:cs typeface="Fraunces Light"/>
                <a:sym typeface="Fraunces Light"/>
              </a:rPr>
              <a:t>3</a:t>
            </a:r>
            <a:endParaRPr/>
          </a:p>
        </p:txBody>
      </p:sp>
      <p:grpSp>
        <p:nvGrpSpPr>
          <p:cNvPr id="103" name="Google Shape;103;p2"/>
          <p:cNvGrpSpPr/>
          <p:nvPr/>
        </p:nvGrpSpPr>
        <p:grpSpPr>
          <a:xfrm>
            <a:off x="711451" y="4446828"/>
            <a:ext cx="10550562" cy="2936173"/>
            <a:chOff x="0" y="0"/>
            <a:chExt cx="14067416" cy="3914898"/>
          </a:xfrm>
        </p:grpSpPr>
        <p:sp>
          <p:nvSpPr>
            <p:cNvPr id="104" name="Google Shape;104;p2"/>
            <p:cNvSpPr txBox="1"/>
            <p:nvPr/>
          </p:nvSpPr>
          <p:spPr>
            <a:xfrm>
              <a:off x="0" y="0"/>
              <a:ext cx="3326203" cy="576526"/>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None/>
              </a:pPr>
              <a:r>
                <a:rPr b="0" i="0" lang="en-US" sz="2881" u="none" cap="none" strike="noStrike">
                  <a:solidFill>
                    <a:srgbClr val="000000"/>
                  </a:solidFill>
                  <a:latin typeface="Arial"/>
                  <a:ea typeface="Arial"/>
                  <a:cs typeface="Arial"/>
                  <a:sym typeface="Arial"/>
                </a:rPr>
                <a:t>TRANSAÇÃO</a:t>
              </a:r>
              <a:endParaRPr/>
            </a:p>
          </p:txBody>
        </p:sp>
        <p:sp>
          <p:nvSpPr>
            <p:cNvPr id="105" name="Google Shape;105;p2"/>
            <p:cNvSpPr txBox="1"/>
            <p:nvPr/>
          </p:nvSpPr>
          <p:spPr>
            <a:xfrm>
              <a:off x="0" y="828694"/>
              <a:ext cx="3872879" cy="3086204"/>
            </a:xfrm>
            <a:prstGeom prst="rect">
              <a:avLst/>
            </a:prstGeom>
            <a:noFill/>
            <a:ln>
              <a:noFill/>
            </a:ln>
          </p:spPr>
          <p:txBody>
            <a:bodyPr anchorCtr="0" anchor="t" bIns="0" lIns="0" spcFirstLastPara="1" rIns="0" wrap="square" tIns="0">
              <a:spAutoFit/>
            </a:bodyPr>
            <a:lstStyle/>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transação 1</a:t>
              </a:r>
              <a:endParaRPr/>
            </a:p>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transação 2</a:t>
              </a:r>
              <a:endParaRPr/>
            </a:p>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transação 3</a:t>
              </a:r>
              <a:endParaRPr/>
            </a:p>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a:t>
              </a:r>
              <a:endParaRPr/>
            </a:p>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transação n</a:t>
              </a:r>
              <a:endParaRPr/>
            </a:p>
          </p:txBody>
        </p:sp>
        <p:sp>
          <p:nvSpPr>
            <p:cNvPr id="106" name="Google Shape;106;p2"/>
            <p:cNvSpPr txBox="1"/>
            <p:nvPr/>
          </p:nvSpPr>
          <p:spPr>
            <a:xfrm>
              <a:off x="3629102" y="0"/>
              <a:ext cx="3326203" cy="576526"/>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None/>
              </a:pPr>
              <a:r>
                <a:rPr b="0" i="0" lang="en-US" sz="2881" u="none" cap="none" strike="noStrike">
                  <a:solidFill>
                    <a:srgbClr val="000000"/>
                  </a:solidFill>
                  <a:latin typeface="Arial"/>
                  <a:ea typeface="Arial"/>
                  <a:cs typeface="Arial"/>
                  <a:sym typeface="Arial"/>
                </a:rPr>
                <a:t>CLIENTE</a:t>
              </a:r>
              <a:endParaRPr/>
            </a:p>
          </p:txBody>
        </p:sp>
        <p:sp>
          <p:nvSpPr>
            <p:cNvPr id="107" name="Google Shape;107;p2"/>
            <p:cNvSpPr txBox="1"/>
            <p:nvPr/>
          </p:nvSpPr>
          <p:spPr>
            <a:xfrm>
              <a:off x="3629102" y="828694"/>
              <a:ext cx="3872879" cy="3086204"/>
            </a:xfrm>
            <a:prstGeom prst="rect">
              <a:avLst/>
            </a:prstGeom>
            <a:noFill/>
            <a:ln>
              <a:noFill/>
            </a:ln>
          </p:spPr>
          <p:txBody>
            <a:bodyPr anchorCtr="0" anchor="t" bIns="0" lIns="0" spcFirstLastPara="1" rIns="0" wrap="square" tIns="0">
              <a:spAutoFit/>
            </a:bodyPr>
            <a:lstStyle/>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cliente 1</a:t>
              </a:r>
              <a:endParaRPr/>
            </a:p>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cliente 2</a:t>
              </a:r>
              <a:endParaRPr/>
            </a:p>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cliente 3</a:t>
              </a:r>
              <a:endParaRPr/>
            </a:p>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a:t>
              </a:r>
              <a:endParaRPr/>
            </a:p>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cliente n</a:t>
              </a:r>
              <a:endParaRPr/>
            </a:p>
          </p:txBody>
        </p:sp>
        <p:sp>
          <p:nvSpPr>
            <p:cNvPr id="108" name="Google Shape;108;p2"/>
            <p:cNvSpPr txBox="1"/>
            <p:nvPr/>
          </p:nvSpPr>
          <p:spPr>
            <a:xfrm>
              <a:off x="6565435" y="0"/>
              <a:ext cx="3326203" cy="576526"/>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None/>
              </a:pPr>
              <a:r>
                <a:rPr b="0" i="0" lang="en-US" sz="2881" u="none" cap="none" strike="noStrike">
                  <a:solidFill>
                    <a:srgbClr val="000000"/>
                  </a:solidFill>
                  <a:latin typeface="Arial"/>
                  <a:ea typeface="Arial"/>
                  <a:cs typeface="Arial"/>
                  <a:sym typeface="Arial"/>
                </a:rPr>
                <a:t>FEATURE K</a:t>
              </a:r>
              <a:endParaRPr/>
            </a:p>
          </p:txBody>
        </p:sp>
        <p:sp>
          <p:nvSpPr>
            <p:cNvPr id="109" name="Google Shape;109;p2"/>
            <p:cNvSpPr txBox="1"/>
            <p:nvPr/>
          </p:nvSpPr>
          <p:spPr>
            <a:xfrm>
              <a:off x="6565435" y="828694"/>
              <a:ext cx="3872879" cy="3086204"/>
            </a:xfrm>
            <a:prstGeom prst="rect">
              <a:avLst/>
            </a:prstGeom>
            <a:noFill/>
            <a:ln>
              <a:noFill/>
            </a:ln>
          </p:spPr>
          <p:txBody>
            <a:bodyPr anchorCtr="0" anchor="t" bIns="0" lIns="0" spcFirstLastPara="1" rIns="0" wrap="square" tIns="0">
              <a:spAutoFit/>
            </a:bodyPr>
            <a:lstStyle/>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a</a:t>
              </a:r>
              <a:endParaRPr/>
            </a:p>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b</a:t>
              </a:r>
              <a:endParaRPr/>
            </a:p>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c</a:t>
              </a:r>
              <a:endParaRPr/>
            </a:p>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a:t>
              </a:r>
              <a:endParaRPr/>
            </a:p>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z</a:t>
              </a:r>
              <a:endParaRPr/>
            </a:p>
          </p:txBody>
        </p:sp>
        <p:sp>
          <p:nvSpPr>
            <p:cNvPr id="110" name="Google Shape;110;p2"/>
            <p:cNvSpPr txBox="1"/>
            <p:nvPr/>
          </p:nvSpPr>
          <p:spPr>
            <a:xfrm>
              <a:off x="10194537" y="0"/>
              <a:ext cx="3326203" cy="576526"/>
            </a:xfrm>
            <a:prstGeom prst="rect">
              <a:avLst/>
            </a:prstGeom>
            <a:noFill/>
            <a:ln>
              <a:noFill/>
            </a:ln>
          </p:spPr>
          <p:txBody>
            <a:bodyPr anchorCtr="0" anchor="t" bIns="0" lIns="0" spcFirstLastPara="1" rIns="0" wrap="square" tIns="0">
              <a:spAutoFit/>
            </a:bodyPr>
            <a:lstStyle/>
            <a:p>
              <a:pPr indent="0" lvl="0" marL="0" marR="0" rtl="0" algn="l">
                <a:lnSpc>
                  <a:spcPct val="119993"/>
                </a:lnSpc>
                <a:spcBef>
                  <a:spcPts val="0"/>
                </a:spcBef>
                <a:spcAft>
                  <a:spcPts val="0"/>
                </a:spcAft>
                <a:buNone/>
              </a:pPr>
              <a:r>
                <a:rPr b="0" i="0" lang="en-US" sz="2881" u="none" cap="none" strike="noStrike">
                  <a:solidFill>
                    <a:srgbClr val="000000"/>
                  </a:solidFill>
                  <a:latin typeface="Arial"/>
                  <a:ea typeface="Arial"/>
                  <a:cs typeface="Arial"/>
                  <a:sym typeface="Arial"/>
                </a:rPr>
                <a:t>SCORE</a:t>
              </a:r>
              <a:endParaRPr/>
            </a:p>
          </p:txBody>
        </p:sp>
        <p:sp>
          <p:nvSpPr>
            <p:cNvPr id="111" name="Google Shape;111;p2"/>
            <p:cNvSpPr txBox="1"/>
            <p:nvPr/>
          </p:nvSpPr>
          <p:spPr>
            <a:xfrm>
              <a:off x="10194537" y="828694"/>
              <a:ext cx="3872879" cy="3086204"/>
            </a:xfrm>
            <a:prstGeom prst="rect">
              <a:avLst/>
            </a:prstGeom>
            <a:noFill/>
            <a:ln>
              <a:noFill/>
            </a:ln>
          </p:spPr>
          <p:txBody>
            <a:bodyPr anchorCtr="0" anchor="t" bIns="0" lIns="0" spcFirstLastPara="1" rIns="0" wrap="square" tIns="0">
              <a:spAutoFit/>
            </a:bodyPr>
            <a:lstStyle/>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0.5820</a:t>
              </a:r>
              <a:endParaRPr/>
            </a:p>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0.6802</a:t>
              </a:r>
              <a:endParaRPr/>
            </a:p>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0.2234</a:t>
              </a:r>
              <a:endParaRPr/>
            </a:p>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a:t>
              </a:r>
              <a:endParaRPr/>
            </a:p>
            <a:p>
              <a:pPr indent="0" lvl="0" marL="0" marR="0" rtl="0" algn="l">
                <a:lnSpc>
                  <a:spcPct val="136007"/>
                </a:lnSpc>
                <a:spcBef>
                  <a:spcPts val="0"/>
                </a:spcBef>
                <a:spcAft>
                  <a:spcPts val="0"/>
                </a:spcAft>
                <a:buNone/>
              </a:pPr>
              <a:r>
                <a:rPr b="0" i="0" lang="en-US" sz="2755" u="none" cap="none" strike="noStrike">
                  <a:solidFill>
                    <a:srgbClr val="000000"/>
                  </a:solidFill>
                  <a:latin typeface="Arial"/>
                  <a:ea typeface="Arial"/>
                  <a:cs typeface="Arial"/>
                  <a:sym typeface="Arial"/>
                </a:rPr>
                <a:t>0.9870</a:t>
              </a:r>
              <a:endParaRPr/>
            </a:p>
          </p:txBody>
        </p:sp>
      </p:grpSp>
      <p:sp>
        <p:nvSpPr>
          <p:cNvPr id="112" name="Google Shape;112;p2"/>
          <p:cNvSpPr txBox="1"/>
          <p:nvPr/>
        </p:nvSpPr>
        <p:spPr>
          <a:xfrm>
            <a:off x="5080487" y="4086398"/>
            <a:ext cx="420492" cy="654185"/>
          </a:xfrm>
          <a:prstGeom prst="rect">
            <a:avLst/>
          </a:prstGeom>
          <a:noFill/>
          <a:ln>
            <a:noFill/>
          </a:ln>
        </p:spPr>
        <p:txBody>
          <a:bodyPr anchorCtr="0" anchor="t" bIns="0" lIns="0" spcFirstLastPara="1" rIns="0" wrap="square" tIns="0">
            <a:spAutoFit/>
          </a:bodyPr>
          <a:lstStyle/>
          <a:p>
            <a:pPr indent="0" lvl="0" marL="0" marR="0" rtl="0" algn="ctr">
              <a:lnSpc>
                <a:spcPct val="136006"/>
              </a:lnSpc>
              <a:spcBef>
                <a:spcPts val="0"/>
              </a:spcBef>
              <a:spcAft>
                <a:spcPts val="0"/>
              </a:spcAft>
              <a:buNone/>
            </a:pPr>
            <a:r>
              <a:rPr b="0" i="0" lang="en-US" sz="3941" u="none" cap="none" strike="noStrike">
                <a:solidFill>
                  <a:srgbClr val="000000"/>
                </a:solidFill>
                <a:latin typeface="Arial"/>
                <a:ea typeface="Arial"/>
                <a:cs typeface="Arial"/>
                <a:sym typeface="Arial"/>
              </a:rPr>
              <a:t>...</a:t>
            </a:r>
            <a:endParaRPr/>
          </a:p>
        </p:txBody>
      </p:sp>
      <p:sp>
        <p:nvSpPr>
          <p:cNvPr id="113" name="Google Shape;113;p2"/>
          <p:cNvSpPr txBox="1"/>
          <p:nvPr/>
        </p:nvSpPr>
        <p:spPr>
          <a:xfrm>
            <a:off x="11448153" y="3983091"/>
            <a:ext cx="5811147" cy="321482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5067" u="none" cap="none" strike="noStrike">
                <a:solidFill>
                  <a:srgbClr val="FFFFFF"/>
                </a:solidFill>
                <a:latin typeface="Montserrat"/>
                <a:ea typeface="Montserrat"/>
                <a:cs typeface="Montserrat"/>
                <a:sym typeface="Montserrat"/>
              </a:rPr>
              <a:t>Como decidimos quais transações devem ser bloqueadas por fraude?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grpSp>
        <p:nvGrpSpPr>
          <p:cNvPr id="118" name="Google Shape;118;p3"/>
          <p:cNvGrpSpPr/>
          <p:nvPr/>
        </p:nvGrpSpPr>
        <p:grpSpPr>
          <a:xfrm>
            <a:off x="-1877587" y="-2489088"/>
            <a:ext cx="22085340" cy="3106208"/>
            <a:chOff x="0" y="-57150"/>
            <a:chExt cx="5816715" cy="818096"/>
          </a:xfrm>
        </p:grpSpPr>
        <p:sp>
          <p:nvSpPr>
            <p:cNvPr id="119" name="Google Shape;119;p3"/>
            <p:cNvSpPr/>
            <p:nvPr/>
          </p:nvSpPr>
          <p:spPr>
            <a:xfrm>
              <a:off x="0" y="0"/>
              <a:ext cx="5816715" cy="760946"/>
            </a:xfrm>
            <a:custGeom>
              <a:rect b="b" l="l" r="r" t="t"/>
              <a:pathLst>
                <a:path extrusionOk="0" h="760946" w="5816715">
                  <a:moveTo>
                    <a:pt x="0" y="0"/>
                  </a:moveTo>
                  <a:lnTo>
                    <a:pt x="5816715" y="0"/>
                  </a:lnTo>
                  <a:lnTo>
                    <a:pt x="5816715" y="760946"/>
                  </a:lnTo>
                  <a:lnTo>
                    <a:pt x="0" y="760946"/>
                  </a:lnTo>
                  <a:close/>
                </a:path>
              </a:pathLst>
            </a:custGeom>
            <a:solidFill>
              <a:srgbClr val="FFD966"/>
            </a:solidFill>
            <a:ln>
              <a:noFill/>
            </a:ln>
          </p:spPr>
        </p:sp>
        <p:sp>
          <p:nvSpPr>
            <p:cNvPr id="120" name="Google Shape;120;p3"/>
            <p:cNvSpPr txBox="1"/>
            <p:nvPr/>
          </p:nvSpPr>
          <p:spPr>
            <a:xfrm>
              <a:off x="0" y="-57150"/>
              <a:ext cx="5816715" cy="818096"/>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1" name="Google Shape;121;p3"/>
          <p:cNvGrpSpPr/>
          <p:nvPr/>
        </p:nvGrpSpPr>
        <p:grpSpPr>
          <a:xfrm>
            <a:off x="-1877587" y="-2489088"/>
            <a:ext cx="22085340" cy="3462486"/>
            <a:chOff x="0" y="-57150"/>
            <a:chExt cx="5816715" cy="911931"/>
          </a:xfrm>
        </p:grpSpPr>
        <p:sp>
          <p:nvSpPr>
            <p:cNvPr id="122" name="Google Shape;122;p3"/>
            <p:cNvSpPr/>
            <p:nvPr/>
          </p:nvSpPr>
          <p:spPr>
            <a:xfrm>
              <a:off x="0" y="0"/>
              <a:ext cx="5816715" cy="854781"/>
            </a:xfrm>
            <a:custGeom>
              <a:rect b="b" l="l" r="r" t="t"/>
              <a:pathLst>
                <a:path extrusionOk="0" h="854781" w="5816715">
                  <a:moveTo>
                    <a:pt x="0" y="0"/>
                  </a:moveTo>
                  <a:lnTo>
                    <a:pt x="5816715" y="0"/>
                  </a:lnTo>
                  <a:lnTo>
                    <a:pt x="5816715" y="854781"/>
                  </a:lnTo>
                  <a:lnTo>
                    <a:pt x="0" y="854781"/>
                  </a:lnTo>
                  <a:close/>
                </a:path>
              </a:pathLst>
            </a:custGeom>
            <a:solidFill>
              <a:srgbClr val="FFD966"/>
            </a:solidFill>
            <a:ln>
              <a:noFill/>
            </a:ln>
          </p:spPr>
        </p:sp>
        <p:sp>
          <p:nvSpPr>
            <p:cNvPr id="123" name="Google Shape;123;p3"/>
            <p:cNvSpPr txBox="1"/>
            <p:nvPr/>
          </p:nvSpPr>
          <p:spPr>
            <a:xfrm>
              <a:off x="0" y="-57150"/>
              <a:ext cx="5816715" cy="91193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4" name="Google Shape;124;p3"/>
          <p:cNvGrpSpPr/>
          <p:nvPr/>
        </p:nvGrpSpPr>
        <p:grpSpPr>
          <a:xfrm>
            <a:off x="2529935" y="3254383"/>
            <a:ext cx="14999130" cy="4711267"/>
            <a:chOff x="0" y="-47625"/>
            <a:chExt cx="19998839" cy="6281689"/>
          </a:xfrm>
        </p:grpSpPr>
        <p:grpSp>
          <p:nvGrpSpPr>
            <p:cNvPr id="125" name="Google Shape;125;p3"/>
            <p:cNvGrpSpPr/>
            <p:nvPr/>
          </p:nvGrpSpPr>
          <p:grpSpPr>
            <a:xfrm>
              <a:off x="4040725" y="2088405"/>
              <a:ext cx="4475753" cy="1912267"/>
              <a:chOff x="0" y="-38100"/>
              <a:chExt cx="884099" cy="377732"/>
            </a:xfrm>
          </p:grpSpPr>
          <p:sp>
            <p:nvSpPr>
              <p:cNvPr id="126" name="Google Shape;126;p3"/>
              <p:cNvSpPr/>
              <p:nvPr/>
            </p:nvSpPr>
            <p:spPr>
              <a:xfrm>
                <a:off x="0" y="0"/>
                <a:ext cx="884099" cy="339632"/>
              </a:xfrm>
              <a:custGeom>
                <a:rect b="b" l="l" r="r" t="t"/>
                <a:pathLst>
                  <a:path extrusionOk="0" h="339632" w="884099">
                    <a:moveTo>
                      <a:pt x="0" y="0"/>
                    </a:moveTo>
                    <a:lnTo>
                      <a:pt x="884099" y="0"/>
                    </a:lnTo>
                    <a:lnTo>
                      <a:pt x="884099" y="339632"/>
                    </a:lnTo>
                    <a:lnTo>
                      <a:pt x="0" y="339632"/>
                    </a:lnTo>
                    <a:close/>
                  </a:path>
                </a:pathLst>
              </a:custGeom>
              <a:solidFill>
                <a:srgbClr val="434343"/>
              </a:solidFill>
              <a:ln>
                <a:noFill/>
              </a:ln>
            </p:spPr>
          </p:sp>
          <p:sp>
            <p:nvSpPr>
              <p:cNvPr id="127" name="Google Shape;127;p3"/>
              <p:cNvSpPr txBox="1"/>
              <p:nvPr/>
            </p:nvSpPr>
            <p:spPr>
              <a:xfrm>
                <a:off x="0" y="-38100"/>
                <a:ext cx="884099" cy="377732"/>
              </a:xfrm>
              <a:prstGeom prst="rect">
                <a:avLst/>
              </a:prstGeom>
              <a:noFill/>
              <a:ln>
                <a:noFill/>
              </a:ln>
            </p:spPr>
            <p:txBody>
              <a:bodyPr anchorCtr="0" anchor="ctr" bIns="50800" lIns="50800" spcFirstLastPara="1" rIns="50800" wrap="square" tIns="50800">
                <a:no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Fraunces"/>
                    <a:ea typeface="Fraunces"/>
                    <a:cs typeface="Fraunces"/>
                    <a:sym typeface="Fraunces"/>
                  </a:rPr>
                  <a:t>Verdadeiros </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Fraunces"/>
                    <a:ea typeface="Fraunces"/>
                    <a:cs typeface="Fraunces"/>
                    <a:sym typeface="Fraunces"/>
                  </a:rPr>
                  <a:t>Negativos</a:t>
                </a:r>
                <a:endParaRPr/>
              </a:p>
            </p:txBody>
          </p:sp>
        </p:grpSp>
        <p:grpSp>
          <p:nvGrpSpPr>
            <p:cNvPr id="128" name="Google Shape;128;p3"/>
            <p:cNvGrpSpPr/>
            <p:nvPr/>
          </p:nvGrpSpPr>
          <p:grpSpPr>
            <a:xfrm>
              <a:off x="8936310" y="2088405"/>
              <a:ext cx="4475753" cy="1912267"/>
              <a:chOff x="0" y="-38100"/>
              <a:chExt cx="884099" cy="377732"/>
            </a:xfrm>
          </p:grpSpPr>
          <p:sp>
            <p:nvSpPr>
              <p:cNvPr id="129" name="Google Shape;129;p3"/>
              <p:cNvSpPr/>
              <p:nvPr/>
            </p:nvSpPr>
            <p:spPr>
              <a:xfrm>
                <a:off x="0" y="0"/>
                <a:ext cx="884099" cy="339632"/>
              </a:xfrm>
              <a:custGeom>
                <a:rect b="b" l="l" r="r" t="t"/>
                <a:pathLst>
                  <a:path extrusionOk="0" h="339632" w="884099">
                    <a:moveTo>
                      <a:pt x="0" y="0"/>
                    </a:moveTo>
                    <a:lnTo>
                      <a:pt x="884099" y="0"/>
                    </a:lnTo>
                    <a:lnTo>
                      <a:pt x="884099" y="339632"/>
                    </a:lnTo>
                    <a:lnTo>
                      <a:pt x="0" y="339632"/>
                    </a:lnTo>
                    <a:close/>
                  </a:path>
                </a:pathLst>
              </a:custGeom>
              <a:solidFill>
                <a:srgbClr val="434343"/>
              </a:solidFill>
              <a:ln>
                <a:noFill/>
              </a:ln>
            </p:spPr>
          </p:sp>
          <p:sp>
            <p:nvSpPr>
              <p:cNvPr id="130" name="Google Shape;130;p3"/>
              <p:cNvSpPr txBox="1"/>
              <p:nvPr/>
            </p:nvSpPr>
            <p:spPr>
              <a:xfrm>
                <a:off x="0" y="-38100"/>
                <a:ext cx="884099" cy="377732"/>
              </a:xfrm>
              <a:prstGeom prst="rect">
                <a:avLst/>
              </a:prstGeom>
              <a:noFill/>
              <a:ln>
                <a:noFill/>
              </a:ln>
            </p:spPr>
            <p:txBody>
              <a:bodyPr anchorCtr="0" anchor="ctr" bIns="50800" lIns="50800" spcFirstLastPara="1" rIns="50800" wrap="square" tIns="50800">
                <a:no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Fraunces"/>
                    <a:ea typeface="Fraunces"/>
                    <a:cs typeface="Fraunces"/>
                    <a:sym typeface="Fraunces"/>
                  </a:rPr>
                  <a:t>Falsos </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Fraunces"/>
                    <a:ea typeface="Fraunces"/>
                    <a:cs typeface="Fraunces"/>
                    <a:sym typeface="Fraunces"/>
                  </a:rPr>
                  <a:t>Negativos</a:t>
                </a:r>
                <a:endParaRPr/>
              </a:p>
            </p:txBody>
          </p:sp>
        </p:grpSp>
        <p:grpSp>
          <p:nvGrpSpPr>
            <p:cNvPr id="131" name="Google Shape;131;p3"/>
            <p:cNvGrpSpPr/>
            <p:nvPr/>
          </p:nvGrpSpPr>
          <p:grpSpPr>
            <a:xfrm>
              <a:off x="4040725" y="4321797"/>
              <a:ext cx="4475753" cy="1912267"/>
              <a:chOff x="0" y="-38100"/>
              <a:chExt cx="884099" cy="377732"/>
            </a:xfrm>
          </p:grpSpPr>
          <p:sp>
            <p:nvSpPr>
              <p:cNvPr id="132" name="Google Shape;132;p3"/>
              <p:cNvSpPr/>
              <p:nvPr/>
            </p:nvSpPr>
            <p:spPr>
              <a:xfrm>
                <a:off x="0" y="0"/>
                <a:ext cx="884099" cy="339632"/>
              </a:xfrm>
              <a:custGeom>
                <a:rect b="b" l="l" r="r" t="t"/>
                <a:pathLst>
                  <a:path extrusionOk="0" h="339632" w="884099">
                    <a:moveTo>
                      <a:pt x="0" y="0"/>
                    </a:moveTo>
                    <a:lnTo>
                      <a:pt x="884099" y="0"/>
                    </a:lnTo>
                    <a:lnTo>
                      <a:pt x="884099" y="339632"/>
                    </a:lnTo>
                    <a:lnTo>
                      <a:pt x="0" y="339632"/>
                    </a:lnTo>
                    <a:close/>
                  </a:path>
                </a:pathLst>
              </a:custGeom>
              <a:solidFill>
                <a:srgbClr val="434343"/>
              </a:solidFill>
              <a:ln>
                <a:noFill/>
              </a:ln>
            </p:spPr>
          </p:sp>
          <p:sp>
            <p:nvSpPr>
              <p:cNvPr id="133" name="Google Shape;133;p3"/>
              <p:cNvSpPr txBox="1"/>
              <p:nvPr/>
            </p:nvSpPr>
            <p:spPr>
              <a:xfrm>
                <a:off x="0" y="-38100"/>
                <a:ext cx="884099" cy="377732"/>
              </a:xfrm>
              <a:prstGeom prst="rect">
                <a:avLst/>
              </a:prstGeom>
              <a:noFill/>
              <a:ln>
                <a:noFill/>
              </a:ln>
            </p:spPr>
            <p:txBody>
              <a:bodyPr anchorCtr="0" anchor="ctr" bIns="50800" lIns="50800" spcFirstLastPara="1" rIns="50800" wrap="square" tIns="50800">
                <a:no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Fraunces"/>
                    <a:ea typeface="Fraunces"/>
                    <a:cs typeface="Fraunces"/>
                    <a:sym typeface="Fraunces"/>
                  </a:rPr>
                  <a:t>Falsos </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Fraunces"/>
                    <a:ea typeface="Fraunces"/>
                    <a:cs typeface="Fraunces"/>
                    <a:sym typeface="Fraunces"/>
                  </a:rPr>
                  <a:t>Positivos</a:t>
                </a:r>
                <a:endParaRPr/>
              </a:p>
            </p:txBody>
          </p:sp>
        </p:grpSp>
        <p:grpSp>
          <p:nvGrpSpPr>
            <p:cNvPr id="134" name="Google Shape;134;p3"/>
            <p:cNvGrpSpPr/>
            <p:nvPr/>
          </p:nvGrpSpPr>
          <p:grpSpPr>
            <a:xfrm>
              <a:off x="8936310" y="4321797"/>
              <a:ext cx="4475753" cy="1912267"/>
              <a:chOff x="0" y="-38100"/>
              <a:chExt cx="884099" cy="377732"/>
            </a:xfrm>
          </p:grpSpPr>
          <p:sp>
            <p:nvSpPr>
              <p:cNvPr id="135" name="Google Shape;135;p3"/>
              <p:cNvSpPr/>
              <p:nvPr/>
            </p:nvSpPr>
            <p:spPr>
              <a:xfrm>
                <a:off x="0" y="0"/>
                <a:ext cx="884099" cy="339632"/>
              </a:xfrm>
              <a:custGeom>
                <a:rect b="b" l="l" r="r" t="t"/>
                <a:pathLst>
                  <a:path extrusionOk="0" h="339632" w="884099">
                    <a:moveTo>
                      <a:pt x="0" y="0"/>
                    </a:moveTo>
                    <a:lnTo>
                      <a:pt x="884099" y="0"/>
                    </a:lnTo>
                    <a:lnTo>
                      <a:pt x="884099" y="339632"/>
                    </a:lnTo>
                    <a:lnTo>
                      <a:pt x="0" y="339632"/>
                    </a:lnTo>
                    <a:close/>
                  </a:path>
                </a:pathLst>
              </a:custGeom>
              <a:solidFill>
                <a:srgbClr val="434343"/>
              </a:solidFill>
              <a:ln>
                <a:noFill/>
              </a:ln>
            </p:spPr>
          </p:sp>
          <p:sp>
            <p:nvSpPr>
              <p:cNvPr id="136" name="Google Shape;136;p3"/>
              <p:cNvSpPr txBox="1"/>
              <p:nvPr/>
            </p:nvSpPr>
            <p:spPr>
              <a:xfrm>
                <a:off x="0" y="-38100"/>
                <a:ext cx="884099" cy="377732"/>
              </a:xfrm>
              <a:prstGeom prst="rect">
                <a:avLst/>
              </a:prstGeom>
              <a:noFill/>
              <a:ln>
                <a:noFill/>
              </a:ln>
            </p:spPr>
            <p:txBody>
              <a:bodyPr anchorCtr="0" anchor="ctr" bIns="50800" lIns="50800" spcFirstLastPara="1" rIns="50800" wrap="square" tIns="50800">
                <a:no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Fraunces"/>
                    <a:ea typeface="Fraunces"/>
                    <a:cs typeface="Fraunces"/>
                    <a:sym typeface="Fraunces"/>
                  </a:rPr>
                  <a:t>Verdadeiros</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Fraunces"/>
                    <a:ea typeface="Fraunces"/>
                    <a:cs typeface="Fraunces"/>
                    <a:sym typeface="Fraunces"/>
                  </a:rPr>
                  <a:t>Positivos</a:t>
                </a:r>
                <a:endParaRPr/>
              </a:p>
            </p:txBody>
          </p:sp>
        </p:grpSp>
        <p:sp>
          <p:nvSpPr>
            <p:cNvPr id="137" name="Google Shape;137;p3"/>
            <p:cNvSpPr txBox="1"/>
            <p:nvPr/>
          </p:nvSpPr>
          <p:spPr>
            <a:xfrm>
              <a:off x="4925523" y="1280861"/>
              <a:ext cx="2815114" cy="644527"/>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1" i="0" lang="en-US" sz="2999" u="none" cap="none" strike="noStrike">
                  <a:solidFill>
                    <a:srgbClr val="434343"/>
                  </a:solidFill>
                  <a:latin typeface="Fraunces"/>
                  <a:ea typeface="Fraunces"/>
                  <a:cs typeface="Fraunces"/>
                  <a:sym typeface="Fraunces"/>
                </a:rPr>
                <a:t>Não fraude</a:t>
              </a:r>
              <a:endParaRPr/>
            </a:p>
          </p:txBody>
        </p:sp>
        <p:sp>
          <p:nvSpPr>
            <p:cNvPr id="138" name="Google Shape;138;p3"/>
            <p:cNvSpPr txBox="1"/>
            <p:nvPr/>
          </p:nvSpPr>
          <p:spPr>
            <a:xfrm>
              <a:off x="10060010" y="1280861"/>
              <a:ext cx="1812290" cy="644527"/>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1" i="0" lang="en-US" sz="2999" u="none" cap="none" strike="noStrike">
                  <a:solidFill>
                    <a:srgbClr val="434343"/>
                  </a:solidFill>
                  <a:latin typeface="Fraunces"/>
                  <a:ea typeface="Fraunces"/>
                  <a:cs typeface="Fraunces"/>
                  <a:sym typeface="Fraunces"/>
                </a:rPr>
                <a:t>Fraude</a:t>
              </a:r>
              <a:endParaRPr/>
            </a:p>
          </p:txBody>
        </p:sp>
        <p:sp>
          <p:nvSpPr>
            <p:cNvPr id="139" name="Google Shape;139;p3"/>
            <p:cNvSpPr txBox="1"/>
            <p:nvPr/>
          </p:nvSpPr>
          <p:spPr>
            <a:xfrm>
              <a:off x="1215683" y="2430544"/>
              <a:ext cx="2286952" cy="1343027"/>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1" i="0" lang="en-US" sz="2999" u="none" cap="none" strike="noStrike">
                  <a:solidFill>
                    <a:srgbClr val="434343"/>
                  </a:solidFill>
                  <a:latin typeface="Fraunces"/>
                  <a:ea typeface="Fraunces"/>
                  <a:cs typeface="Fraunces"/>
                  <a:sym typeface="Fraunces"/>
                </a:rPr>
                <a:t>Não</a:t>
              </a:r>
              <a:endParaRPr/>
            </a:p>
            <a:p>
              <a:pPr indent="0" lvl="0" marL="0" marR="0" rtl="0" algn="ctr">
                <a:lnSpc>
                  <a:spcPct val="140013"/>
                </a:lnSpc>
                <a:spcBef>
                  <a:spcPts val="0"/>
                </a:spcBef>
                <a:spcAft>
                  <a:spcPts val="0"/>
                </a:spcAft>
                <a:buNone/>
              </a:pPr>
              <a:r>
                <a:rPr b="1" i="0" lang="en-US" sz="2999" u="none" cap="none" strike="noStrike">
                  <a:solidFill>
                    <a:srgbClr val="434343"/>
                  </a:solidFill>
                  <a:latin typeface="Fraunces"/>
                  <a:ea typeface="Fraunces"/>
                  <a:cs typeface="Fraunces"/>
                  <a:sym typeface="Fraunces"/>
                </a:rPr>
                <a:t>bloquear</a:t>
              </a:r>
              <a:endParaRPr/>
            </a:p>
          </p:txBody>
        </p:sp>
        <p:sp>
          <p:nvSpPr>
            <p:cNvPr id="140" name="Google Shape;140;p3"/>
            <p:cNvSpPr txBox="1"/>
            <p:nvPr/>
          </p:nvSpPr>
          <p:spPr>
            <a:xfrm>
              <a:off x="1215683" y="5225178"/>
              <a:ext cx="2343309" cy="644527"/>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1" i="0" lang="en-US" sz="2999" u="none" cap="none" strike="noStrike">
                  <a:solidFill>
                    <a:srgbClr val="434343"/>
                  </a:solidFill>
                  <a:latin typeface="Fraunces"/>
                  <a:ea typeface="Fraunces"/>
                  <a:cs typeface="Fraunces"/>
                  <a:sym typeface="Fraunces"/>
                </a:rPr>
                <a:t>Bloquear</a:t>
              </a:r>
              <a:endParaRPr/>
            </a:p>
          </p:txBody>
        </p:sp>
        <p:sp>
          <p:nvSpPr>
            <p:cNvPr id="141" name="Google Shape;141;p3"/>
            <p:cNvSpPr/>
            <p:nvPr/>
          </p:nvSpPr>
          <p:spPr>
            <a:xfrm>
              <a:off x="13692255" y="1065975"/>
              <a:ext cx="1832333" cy="1632442"/>
            </a:xfrm>
            <a:custGeom>
              <a:rect b="b" l="l" r="r" t="t"/>
              <a:pathLst>
                <a:path extrusionOk="0" h="1632442" w="1832333">
                  <a:moveTo>
                    <a:pt x="0" y="0"/>
                  </a:moveTo>
                  <a:lnTo>
                    <a:pt x="1832333" y="0"/>
                  </a:lnTo>
                  <a:lnTo>
                    <a:pt x="1832333" y="1632442"/>
                  </a:lnTo>
                  <a:lnTo>
                    <a:pt x="0" y="1632442"/>
                  </a:lnTo>
                  <a:lnTo>
                    <a:pt x="0" y="0"/>
                  </a:lnTo>
                  <a:close/>
                </a:path>
              </a:pathLst>
            </a:custGeom>
            <a:blipFill rotWithShape="1">
              <a:blip r:embed="rId3">
                <a:alphaModFix/>
              </a:blip>
              <a:stretch>
                <a:fillRect b="0" l="0" r="0" t="0"/>
              </a:stretch>
            </a:blipFill>
            <a:ln>
              <a:noFill/>
            </a:ln>
          </p:spPr>
        </p:sp>
        <p:sp>
          <p:nvSpPr>
            <p:cNvPr id="142" name="Google Shape;142;p3"/>
            <p:cNvSpPr/>
            <p:nvPr/>
          </p:nvSpPr>
          <p:spPr>
            <a:xfrm flipH="1">
              <a:off x="1873296" y="867790"/>
              <a:ext cx="1691828" cy="1507265"/>
            </a:xfrm>
            <a:custGeom>
              <a:rect b="b" l="l" r="r" t="t"/>
              <a:pathLst>
                <a:path extrusionOk="0" h="1507265" w="1691828">
                  <a:moveTo>
                    <a:pt x="1691828" y="0"/>
                  </a:moveTo>
                  <a:lnTo>
                    <a:pt x="0" y="0"/>
                  </a:lnTo>
                  <a:lnTo>
                    <a:pt x="0" y="1507265"/>
                  </a:lnTo>
                  <a:lnTo>
                    <a:pt x="1691828" y="1507265"/>
                  </a:lnTo>
                  <a:lnTo>
                    <a:pt x="1691828" y="0"/>
                  </a:lnTo>
                  <a:close/>
                </a:path>
              </a:pathLst>
            </a:custGeom>
            <a:blipFill rotWithShape="1">
              <a:blip r:embed="rId3">
                <a:alphaModFix/>
              </a:blip>
              <a:stretch>
                <a:fillRect b="0" l="0" r="0" t="0"/>
              </a:stretch>
            </a:blipFill>
            <a:ln>
              <a:noFill/>
            </a:ln>
          </p:spPr>
        </p:sp>
        <p:sp>
          <p:nvSpPr>
            <p:cNvPr id="143" name="Google Shape;143;p3"/>
            <p:cNvSpPr txBox="1"/>
            <p:nvPr/>
          </p:nvSpPr>
          <p:spPr>
            <a:xfrm>
              <a:off x="13452344" y="240389"/>
              <a:ext cx="6546495" cy="623653"/>
            </a:xfrm>
            <a:prstGeom prst="rect">
              <a:avLst/>
            </a:prstGeom>
            <a:noFill/>
            <a:ln>
              <a:noFill/>
            </a:ln>
          </p:spPr>
          <p:txBody>
            <a:bodyPr anchorCtr="0" anchor="t" bIns="0" lIns="0" spcFirstLastPara="1" rIns="0" wrap="square" tIns="0">
              <a:spAutoFit/>
            </a:bodyPr>
            <a:lstStyle/>
            <a:p>
              <a:pPr indent="0" lvl="0" marL="0" marR="0" rtl="0" algn="l">
                <a:lnSpc>
                  <a:spcPct val="139986"/>
                </a:lnSpc>
                <a:spcBef>
                  <a:spcPts val="0"/>
                </a:spcBef>
                <a:spcAft>
                  <a:spcPts val="0"/>
                </a:spcAft>
                <a:buNone/>
              </a:pPr>
              <a:r>
                <a:rPr b="0" i="0" lang="en-US" sz="2866" u="none" cap="none" strike="noStrike">
                  <a:solidFill>
                    <a:srgbClr val="74040D"/>
                  </a:solidFill>
                  <a:latin typeface="Fraunces"/>
                  <a:ea typeface="Fraunces"/>
                  <a:cs typeface="Fraunces"/>
                  <a:sym typeface="Fraunces"/>
                </a:rPr>
                <a:t>Perdemos $100</a:t>
              </a:r>
              <a:endParaRPr/>
            </a:p>
          </p:txBody>
        </p:sp>
        <p:sp>
          <p:nvSpPr>
            <p:cNvPr id="144" name="Google Shape;144;p3"/>
            <p:cNvSpPr txBox="1"/>
            <p:nvPr/>
          </p:nvSpPr>
          <p:spPr>
            <a:xfrm>
              <a:off x="0" y="-47625"/>
              <a:ext cx="6546495" cy="623653"/>
            </a:xfrm>
            <a:prstGeom prst="rect">
              <a:avLst/>
            </a:prstGeom>
            <a:noFill/>
            <a:ln>
              <a:noFill/>
            </a:ln>
          </p:spPr>
          <p:txBody>
            <a:bodyPr anchorCtr="0" anchor="t" bIns="0" lIns="0" spcFirstLastPara="1" rIns="0" wrap="square" tIns="0">
              <a:spAutoFit/>
            </a:bodyPr>
            <a:lstStyle/>
            <a:p>
              <a:pPr indent="0" lvl="0" marL="0" marR="0" rtl="0" algn="l">
                <a:lnSpc>
                  <a:spcPct val="139986"/>
                </a:lnSpc>
                <a:spcBef>
                  <a:spcPts val="0"/>
                </a:spcBef>
                <a:spcAft>
                  <a:spcPts val="0"/>
                </a:spcAft>
                <a:buNone/>
              </a:pPr>
              <a:r>
                <a:rPr b="0" i="0" lang="en-US" sz="2866" u="none" cap="none" strike="noStrike">
                  <a:solidFill>
                    <a:srgbClr val="37221C"/>
                  </a:solidFill>
                  <a:latin typeface="Fraunces"/>
                  <a:ea typeface="Fraunces"/>
                  <a:cs typeface="Fraunces"/>
                  <a:sym typeface="Fraunces"/>
                </a:rPr>
                <a:t>Ganhamos $100 * 0.1</a:t>
              </a:r>
              <a:endParaRPr/>
            </a:p>
          </p:txBody>
        </p:sp>
      </p:grpSp>
      <p:grpSp>
        <p:nvGrpSpPr>
          <p:cNvPr id="145" name="Google Shape;145;p3"/>
          <p:cNvGrpSpPr/>
          <p:nvPr/>
        </p:nvGrpSpPr>
        <p:grpSpPr>
          <a:xfrm>
            <a:off x="6843245" y="2385498"/>
            <a:ext cx="3996685" cy="723629"/>
            <a:chOff x="0" y="-38100"/>
            <a:chExt cx="1052625" cy="190585"/>
          </a:xfrm>
        </p:grpSpPr>
        <p:sp>
          <p:nvSpPr>
            <p:cNvPr id="146" name="Google Shape;146;p3"/>
            <p:cNvSpPr/>
            <p:nvPr/>
          </p:nvSpPr>
          <p:spPr>
            <a:xfrm>
              <a:off x="0" y="0"/>
              <a:ext cx="1052625" cy="152485"/>
            </a:xfrm>
            <a:custGeom>
              <a:rect b="b" l="l" r="r" t="t"/>
              <a:pathLst>
                <a:path extrusionOk="0" h="152485" w="1052625">
                  <a:moveTo>
                    <a:pt x="0" y="0"/>
                  </a:moveTo>
                  <a:lnTo>
                    <a:pt x="1052625" y="0"/>
                  </a:lnTo>
                  <a:lnTo>
                    <a:pt x="1052625" y="152485"/>
                  </a:lnTo>
                  <a:lnTo>
                    <a:pt x="0" y="152485"/>
                  </a:lnTo>
                  <a:close/>
                </a:path>
              </a:pathLst>
            </a:custGeom>
            <a:solidFill>
              <a:srgbClr val="434343"/>
            </a:solidFill>
            <a:ln>
              <a:noFill/>
            </a:ln>
          </p:spPr>
        </p:sp>
        <p:sp>
          <p:nvSpPr>
            <p:cNvPr id="147" name="Google Shape;147;p3"/>
            <p:cNvSpPr txBox="1"/>
            <p:nvPr/>
          </p:nvSpPr>
          <p:spPr>
            <a:xfrm>
              <a:off x="0" y="-38100"/>
              <a:ext cx="1052625" cy="190585"/>
            </a:xfrm>
            <a:prstGeom prst="rect">
              <a:avLst/>
            </a:prstGeom>
            <a:noFill/>
            <a:ln>
              <a:noFill/>
            </a:ln>
          </p:spPr>
          <p:txBody>
            <a:bodyPr anchorCtr="0" anchor="ctr" bIns="50800" lIns="50800" spcFirstLastPara="1" rIns="50800" wrap="square" tIns="50800">
              <a:no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Fraunces"/>
                  <a:ea typeface="Fraunces"/>
                  <a:cs typeface="Fraunces"/>
                  <a:sym typeface="Fraunces"/>
                </a:rPr>
                <a:t>Valor da Transação: $100</a:t>
              </a:r>
              <a:endParaRPr/>
            </a:p>
          </p:txBody>
        </p:sp>
      </p:grpSp>
      <p:sp>
        <p:nvSpPr>
          <p:cNvPr id="148" name="Google Shape;148;p3"/>
          <p:cNvSpPr txBox="1"/>
          <p:nvPr/>
        </p:nvSpPr>
        <p:spPr>
          <a:xfrm>
            <a:off x="4966366" y="1256580"/>
            <a:ext cx="10963021" cy="109474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399" u="none" cap="none" strike="noStrike">
                <a:solidFill>
                  <a:srgbClr val="434343"/>
                </a:solidFill>
                <a:latin typeface="Fraunces"/>
                <a:ea typeface="Fraunces"/>
                <a:cs typeface="Fraunces"/>
                <a:sym typeface="Fraunces"/>
              </a:rPr>
              <a:t>Métricas de Business</a:t>
            </a:r>
            <a:endParaRPr/>
          </a:p>
        </p:txBody>
      </p:sp>
      <p:sp>
        <p:nvSpPr>
          <p:cNvPr id="149" name="Google Shape;149;p3"/>
          <p:cNvSpPr txBox="1"/>
          <p:nvPr/>
        </p:nvSpPr>
        <p:spPr>
          <a:xfrm>
            <a:off x="15160864" y="8862060"/>
            <a:ext cx="2098436" cy="39624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0" i="0" lang="en-US" sz="2400" u="none" cap="none" strike="noStrike">
                <a:solidFill>
                  <a:srgbClr val="434343"/>
                </a:solidFill>
                <a:latin typeface="Fraunces Light"/>
                <a:ea typeface="Fraunces Light"/>
                <a:cs typeface="Fraunces Light"/>
                <a:sym typeface="Fraunces Light"/>
              </a:rPr>
              <a:t>3</a:t>
            </a:r>
            <a:endParaRPr/>
          </a:p>
        </p:txBody>
      </p:sp>
      <p:sp>
        <p:nvSpPr>
          <p:cNvPr id="150" name="Google Shape;150;p3"/>
          <p:cNvSpPr txBox="1"/>
          <p:nvPr/>
        </p:nvSpPr>
        <p:spPr>
          <a:xfrm>
            <a:off x="12926916" y="6476353"/>
            <a:ext cx="4909871" cy="1489296"/>
          </a:xfrm>
          <a:prstGeom prst="rect">
            <a:avLst/>
          </a:prstGeom>
          <a:noFill/>
          <a:ln>
            <a:noFill/>
          </a:ln>
        </p:spPr>
        <p:txBody>
          <a:bodyPr anchorCtr="0" anchor="t" bIns="0" lIns="0" spcFirstLastPara="1" rIns="0" wrap="square" tIns="0">
            <a:spAutoFit/>
          </a:bodyPr>
          <a:lstStyle/>
          <a:p>
            <a:pPr indent="0" lvl="0" marL="0" marR="0" rtl="0" algn="l">
              <a:lnSpc>
                <a:spcPct val="139986"/>
              </a:lnSpc>
              <a:spcBef>
                <a:spcPts val="0"/>
              </a:spcBef>
              <a:spcAft>
                <a:spcPts val="0"/>
              </a:spcAft>
              <a:buNone/>
            </a:pPr>
            <a:r>
              <a:rPr b="0" i="0" lang="en-US" sz="2866" u="none" cap="none" strike="noStrike">
                <a:solidFill>
                  <a:srgbClr val="37221C"/>
                </a:solidFill>
                <a:latin typeface="Fraunces"/>
                <a:ea typeface="Fraunces"/>
                <a:cs typeface="Fraunces"/>
                <a:sym typeface="Fraunces"/>
              </a:rPr>
              <a:t>= Deixamos de receber $100 * 0.1, mas economizamos o valor da transação</a:t>
            </a:r>
            <a:endParaRPr/>
          </a:p>
        </p:txBody>
      </p:sp>
      <p:sp>
        <p:nvSpPr>
          <p:cNvPr id="151" name="Google Shape;151;p3"/>
          <p:cNvSpPr txBox="1"/>
          <p:nvPr/>
        </p:nvSpPr>
        <p:spPr>
          <a:xfrm rot="-5400000">
            <a:off x="4882461" y="5683014"/>
            <a:ext cx="4909871" cy="581247"/>
          </a:xfrm>
          <a:prstGeom prst="rect">
            <a:avLst/>
          </a:prstGeom>
          <a:noFill/>
          <a:ln>
            <a:noFill/>
          </a:ln>
        </p:spPr>
        <p:txBody>
          <a:bodyPr anchorCtr="0" anchor="t" bIns="0" lIns="0" spcFirstLastPara="1" rIns="0" wrap="square" tIns="0">
            <a:spAutoFit/>
          </a:bodyPr>
          <a:lstStyle/>
          <a:p>
            <a:pPr indent="0" lvl="0" marL="0" marR="0" rtl="0" algn="l">
              <a:lnSpc>
                <a:spcPct val="139988"/>
              </a:lnSpc>
              <a:spcBef>
                <a:spcPts val="0"/>
              </a:spcBef>
              <a:spcAft>
                <a:spcPts val="0"/>
              </a:spcAft>
              <a:buNone/>
            </a:pPr>
            <a:r>
              <a:rPr b="0" i="0" lang="en-US" sz="3366" u="none" cap="none" strike="noStrike">
                <a:solidFill>
                  <a:srgbClr val="74040D"/>
                </a:solidFill>
                <a:latin typeface="Fraunces"/>
                <a:ea typeface="Fraunces"/>
                <a:cs typeface="Fraunces"/>
                <a:sym typeface="Fraunces"/>
              </a:rPr>
              <a:t>=</a:t>
            </a:r>
            <a:endParaRPr/>
          </a:p>
        </p:txBody>
      </p:sp>
      <p:sp>
        <p:nvSpPr>
          <p:cNvPr id="152" name="Google Shape;152;p3"/>
          <p:cNvSpPr txBox="1"/>
          <p:nvPr/>
        </p:nvSpPr>
        <p:spPr>
          <a:xfrm>
            <a:off x="5463761" y="8599584"/>
            <a:ext cx="6755652" cy="479646"/>
          </a:xfrm>
          <a:prstGeom prst="rect">
            <a:avLst/>
          </a:prstGeom>
          <a:noFill/>
          <a:ln>
            <a:noFill/>
          </a:ln>
        </p:spPr>
        <p:txBody>
          <a:bodyPr anchorCtr="0" anchor="t" bIns="0" lIns="0" spcFirstLastPara="1" rIns="0" wrap="square" tIns="0">
            <a:spAutoFit/>
          </a:bodyPr>
          <a:lstStyle/>
          <a:p>
            <a:pPr indent="0" lvl="0" marL="0" marR="0" rtl="0" algn="l">
              <a:lnSpc>
                <a:spcPct val="139986"/>
              </a:lnSpc>
              <a:spcBef>
                <a:spcPts val="0"/>
              </a:spcBef>
              <a:spcAft>
                <a:spcPts val="0"/>
              </a:spcAft>
              <a:buNone/>
            </a:pPr>
            <a:r>
              <a:rPr b="0" i="0" lang="en-US" sz="2866" u="none" cap="none" strike="noStrike">
                <a:solidFill>
                  <a:srgbClr val="74040D"/>
                </a:solidFill>
                <a:latin typeface="Fraunces"/>
                <a:ea typeface="Fraunces"/>
                <a:cs typeface="Fraunces"/>
                <a:sym typeface="Fraunces"/>
              </a:rPr>
              <a:t>Perdemos * 100 * 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grpSp>
        <p:nvGrpSpPr>
          <p:cNvPr id="157" name="Google Shape;157;p4"/>
          <p:cNvGrpSpPr/>
          <p:nvPr/>
        </p:nvGrpSpPr>
        <p:grpSpPr>
          <a:xfrm>
            <a:off x="-1877587" y="-2489088"/>
            <a:ext cx="22085340" cy="3106208"/>
            <a:chOff x="0" y="-57150"/>
            <a:chExt cx="5816715" cy="818096"/>
          </a:xfrm>
        </p:grpSpPr>
        <p:sp>
          <p:nvSpPr>
            <p:cNvPr id="158" name="Google Shape;158;p4"/>
            <p:cNvSpPr/>
            <p:nvPr/>
          </p:nvSpPr>
          <p:spPr>
            <a:xfrm>
              <a:off x="0" y="0"/>
              <a:ext cx="5816715" cy="760946"/>
            </a:xfrm>
            <a:custGeom>
              <a:rect b="b" l="l" r="r" t="t"/>
              <a:pathLst>
                <a:path extrusionOk="0" h="760946" w="5816715">
                  <a:moveTo>
                    <a:pt x="0" y="0"/>
                  </a:moveTo>
                  <a:lnTo>
                    <a:pt x="5816715" y="0"/>
                  </a:lnTo>
                  <a:lnTo>
                    <a:pt x="5816715" y="760946"/>
                  </a:lnTo>
                  <a:lnTo>
                    <a:pt x="0" y="760946"/>
                  </a:lnTo>
                  <a:close/>
                </a:path>
              </a:pathLst>
            </a:custGeom>
            <a:solidFill>
              <a:srgbClr val="FFD966"/>
            </a:solidFill>
            <a:ln>
              <a:noFill/>
            </a:ln>
          </p:spPr>
        </p:sp>
        <p:sp>
          <p:nvSpPr>
            <p:cNvPr id="159" name="Google Shape;159;p4"/>
            <p:cNvSpPr txBox="1"/>
            <p:nvPr/>
          </p:nvSpPr>
          <p:spPr>
            <a:xfrm>
              <a:off x="0" y="-57150"/>
              <a:ext cx="5816715" cy="818096"/>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0" name="Google Shape;160;p4"/>
          <p:cNvGrpSpPr/>
          <p:nvPr/>
        </p:nvGrpSpPr>
        <p:grpSpPr>
          <a:xfrm>
            <a:off x="-1877587" y="-2489088"/>
            <a:ext cx="22085340" cy="3462486"/>
            <a:chOff x="0" y="-57150"/>
            <a:chExt cx="5816715" cy="911931"/>
          </a:xfrm>
        </p:grpSpPr>
        <p:sp>
          <p:nvSpPr>
            <p:cNvPr id="161" name="Google Shape;161;p4"/>
            <p:cNvSpPr/>
            <p:nvPr/>
          </p:nvSpPr>
          <p:spPr>
            <a:xfrm>
              <a:off x="0" y="0"/>
              <a:ext cx="5816715" cy="854781"/>
            </a:xfrm>
            <a:custGeom>
              <a:rect b="b" l="l" r="r" t="t"/>
              <a:pathLst>
                <a:path extrusionOk="0" h="854781" w="5816715">
                  <a:moveTo>
                    <a:pt x="0" y="0"/>
                  </a:moveTo>
                  <a:lnTo>
                    <a:pt x="5816715" y="0"/>
                  </a:lnTo>
                  <a:lnTo>
                    <a:pt x="5816715" y="854781"/>
                  </a:lnTo>
                  <a:lnTo>
                    <a:pt x="0" y="854781"/>
                  </a:lnTo>
                  <a:close/>
                </a:path>
              </a:pathLst>
            </a:custGeom>
            <a:solidFill>
              <a:srgbClr val="FFD966"/>
            </a:solidFill>
            <a:ln>
              <a:noFill/>
            </a:ln>
          </p:spPr>
        </p:sp>
        <p:sp>
          <p:nvSpPr>
            <p:cNvPr id="162" name="Google Shape;162;p4"/>
            <p:cNvSpPr txBox="1"/>
            <p:nvPr/>
          </p:nvSpPr>
          <p:spPr>
            <a:xfrm>
              <a:off x="0" y="-57150"/>
              <a:ext cx="5816715" cy="91193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4"/>
          <p:cNvSpPr txBox="1"/>
          <p:nvPr/>
        </p:nvSpPr>
        <p:spPr>
          <a:xfrm>
            <a:off x="4966366" y="1256580"/>
            <a:ext cx="10963021" cy="109474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399" u="none" cap="none" strike="noStrike">
                <a:solidFill>
                  <a:srgbClr val="434343"/>
                </a:solidFill>
                <a:latin typeface="Fraunces"/>
                <a:ea typeface="Fraunces"/>
                <a:cs typeface="Fraunces"/>
                <a:sym typeface="Fraunces"/>
              </a:rPr>
              <a:t>Métricas de Business</a:t>
            </a:r>
            <a:endParaRPr/>
          </a:p>
        </p:txBody>
      </p:sp>
      <p:sp>
        <p:nvSpPr>
          <p:cNvPr id="164" name="Google Shape;164;p4"/>
          <p:cNvSpPr txBox="1"/>
          <p:nvPr/>
        </p:nvSpPr>
        <p:spPr>
          <a:xfrm>
            <a:off x="15160864" y="8862060"/>
            <a:ext cx="2098436" cy="39624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0" i="0" lang="en-US" sz="2400" u="none" cap="none" strike="noStrike">
                <a:solidFill>
                  <a:srgbClr val="434343"/>
                </a:solidFill>
                <a:latin typeface="Fraunces Light"/>
                <a:ea typeface="Fraunces Light"/>
                <a:cs typeface="Fraunces Light"/>
                <a:sym typeface="Fraunces Light"/>
              </a:rPr>
              <a:t>3</a:t>
            </a:r>
            <a:endParaRPr/>
          </a:p>
        </p:txBody>
      </p:sp>
      <p:sp>
        <p:nvSpPr>
          <p:cNvPr id="165" name="Google Shape;165;p4"/>
          <p:cNvSpPr/>
          <p:nvPr/>
        </p:nvSpPr>
        <p:spPr>
          <a:xfrm>
            <a:off x="11194447" y="3116592"/>
            <a:ext cx="6261737" cy="5783568"/>
          </a:xfrm>
          <a:custGeom>
            <a:rect b="b" l="l" r="r" t="t"/>
            <a:pathLst>
              <a:path extrusionOk="0" h="5783568" w="6261737">
                <a:moveTo>
                  <a:pt x="0" y="0"/>
                </a:moveTo>
                <a:lnTo>
                  <a:pt x="6261736" y="0"/>
                </a:lnTo>
                <a:lnTo>
                  <a:pt x="6261736" y="5783568"/>
                </a:lnTo>
                <a:lnTo>
                  <a:pt x="0" y="5783568"/>
                </a:lnTo>
                <a:lnTo>
                  <a:pt x="0" y="0"/>
                </a:lnTo>
                <a:close/>
              </a:path>
            </a:pathLst>
          </a:custGeom>
          <a:blipFill rotWithShape="1">
            <a:blip r:embed="rId3">
              <a:alphaModFix/>
            </a:blip>
            <a:stretch>
              <a:fillRect b="0" l="0" r="0" t="0"/>
            </a:stretch>
          </a:blipFill>
          <a:ln>
            <a:noFill/>
          </a:ln>
        </p:spPr>
      </p:sp>
      <p:sp>
        <p:nvSpPr>
          <p:cNvPr id="166" name="Google Shape;166;p4"/>
          <p:cNvSpPr txBox="1"/>
          <p:nvPr/>
        </p:nvSpPr>
        <p:spPr>
          <a:xfrm>
            <a:off x="1117440" y="4234953"/>
            <a:ext cx="9330436" cy="345929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4567" u="none" cap="none" strike="noStrike">
                <a:solidFill>
                  <a:srgbClr val="434343"/>
                </a:solidFill>
                <a:latin typeface="Arial"/>
                <a:ea typeface="Arial"/>
                <a:cs typeface="Arial"/>
                <a:sym typeface="Arial"/>
              </a:rPr>
              <a:t>Taxa de Fraude = transações fraudulentas aprovadas / transações totais aprovadas</a:t>
            </a:r>
            <a:endParaRPr/>
          </a:p>
          <a:p>
            <a:pPr indent="0" lvl="0" marL="0" marR="0" rtl="0" algn="ctr">
              <a:lnSpc>
                <a:spcPct val="100000"/>
              </a:lnSpc>
              <a:spcBef>
                <a:spcPts val="0"/>
              </a:spcBef>
              <a:spcAft>
                <a:spcPts val="0"/>
              </a:spcAft>
              <a:buNone/>
            </a:pPr>
            <a:r>
              <a:t/>
            </a:r>
            <a:endParaRPr b="0" i="0" sz="4567" u="none" cap="none" strike="noStrike">
              <a:solidFill>
                <a:srgbClr val="434343"/>
              </a:solidFill>
              <a:latin typeface="Arial"/>
              <a:ea typeface="Arial"/>
              <a:cs typeface="Arial"/>
              <a:sym typeface="Arial"/>
            </a:endParaRPr>
          </a:p>
          <a:p>
            <a:pPr indent="0" lvl="0" marL="0" marR="0" rtl="0" algn="ctr">
              <a:lnSpc>
                <a:spcPct val="100000"/>
              </a:lnSpc>
              <a:spcBef>
                <a:spcPts val="0"/>
              </a:spcBef>
              <a:spcAft>
                <a:spcPts val="0"/>
              </a:spcAft>
              <a:buNone/>
            </a:pPr>
            <a:r>
              <a:rPr b="0" i="0" lang="en-US" sz="4567" u="none" cap="none" strike="noStrike">
                <a:solidFill>
                  <a:srgbClr val="434343"/>
                </a:solidFill>
                <a:latin typeface="Arial"/>
                <a:ea typeface="Arial"/>
                <a:cs typeface="Arial"/>
                <a:sym typeface="Arial"/>
              </a:rPr>
              <a:t>Taxa de aprovação = transações totais aprovadas / transações recebidas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grpSp>
        <p:nvGrpSpPr>
          <p:cNvPr id="171" name="Google Shape;171;p5"/>
          <p:cNvGrpSpPr/>
          <p:nvPr/>
        </p:nvGrpSpPr>
        <p:grpSpPr>
          <a:xfrm>
            <a:off x="10283485" y="-216991"/>
            <a:ext cx="8820327" cy="10767376"/>
            <a:chOff x="0" y="-57150"/>
            <a:chExt cx="2323049" cy="2835852"/>
          </a:xfrm>
        </p:grpSpPr>
        <p:sp>
          <p:nvSpPr>
            <p:cNvPr id="172" name="Google Shape;172;p5"/>
            <p:cNvSpPr/>
            <p:nvPr/>
          </p:nvSpPr>
          <p:spPr>
            <a:xfrm>
              <a:off x="0" y="0"/>
              <a:ext cx="2323049" cy="2778702"/>
            </a:xfrm>
            <a:custGeom>
              <a:rect b="b" l="l" r="r" t="t"/>
              <a:pathLst>
                <a:path extrusionOk="0" h="2778702" w="2323049">
                  <a:moveTo>
                    <a:pt x="0" y="0"/>
                  </a:moveTo>
                  <a:lnTo>
                    <a:pt x="2323049" y="0"/>
                  </a:lnTo>
                  <a:lnTo>
                    <a:pt x="2323049" y="2778702"/>
                  </a:lnTo>
                  <a:lnTo>
                    <a:pt x="0" y="2778702"/>
                  </a:lnTo>
                  <a:close/>
                </a:path>
              </a:pathLst>
            </a:custGeom>
            <a:solidFill>
              <a:srgbClr val="434343"/>
            </a:solidFill>
            <a:ln>
              <a:noFill/>
            </a:ln>
          </p:spPr>
        </p:sp>
        <p:sp>
          <p:nvSpPr>
            <p:cNvPr id="173" name="Google Shape;173;p5"/>
            <p:cNvSpPr txBox="1"/>
            <p:nvPr/>
          </p:nvSpPr>
          <p:spPr>
            <a:xfrm>
              <a:off x="0" y="-57150"/>
              <a:ext cx="2323049" cy="2835852"/>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4" name="Google Shape;174;p5"/>
          <p:cNvGrpSpPr/>
          <p:nvPr/>
        </p:nvGrpSpPr>
        <p:grpSpPr>
          <a:xfrm>
            <a:off x="-1877587" y="-2489088"/>
            <a:ext cx="22085340" cy="3462486"/>
            <a:chOff x="0" y="-57150"/>
            <a:chExt cx="5816715" cy="911931"/>
          </a:xfrm>
        </p:grpSpPr>
        <p:sp>
          <p:nvSpPr>
            <p:cNvPr id="175" name="Google Shape;175;p5"/>
            <p:cNvSpPr/>
            <p:nvPr/>
          </p:nvSpPr>
          <p:spPr>
            <a:xfrm>
              <a:off x="0" y="0"/>
              <a:ext cx="5816715" cy="854781"/>
            </a:xfrm>
            <a:custGeom>
              <a:rect b="b" l="l" r="r" t="t"/>
              <a:pathLst>
                <a:path extrusionOk="0" h="854781" w="5816715">
                  <a:moveTo>
                    <a:pt x="0" y="0"/>
                  </a:moveTo>
                  <a:lnTo>
                    <a:pt x="5816715" y="0"/>
                  </a:lnTo>
                  <a:lnTo>
                    <a:pt x="5816715" y="854781"/>
                  </a:lnTo>
                  <a:lnTo>
                    <a:pt x="0" y="854781"/>
                  </a:lnTo>
                  <a:close/>
                </a:path>
              </a:pathLst>
            </a:custGeom>
            <a:solidFill>
              <a:srgbClr val="FFD966"/>
            </a:solidFill>
            <a:ln>
              <a:noFill/>
            </a:ln>
          </p:spPr>
        </p:sp>
        <p:sp>
          <p:nvSpPr>
            <p:cNvPr id="176" name="Google Shape;176;p5"/>
            <p:cNvSpPr txBox="1"/>
            <p:nvPr/>
          </p:nvSpPr>
          <p:spPr>
            <a:xfrm>
              <a:off x="0" y="-57150"/>
              <a:ext cx="5816715" cy="91193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7" name="Google Shape;177;p5"/>
          <p:cNvSpPr/>
          <p:nvPr/>
        </p:nvSpPr>
        <p:spPr>
          <a:xfrm>
            <a:off x="711451" y="3004300"/>
            <a:ext cx="7575919" cy="5895860"/>
          </a:xfrm>
          <a:custGeom>
            <a:rect b="b" l="l" r="r" t="t"/>
            <a:pathLst>
              <a:path extrusionOk="0" h="5895860" w="7575919">
                <a:moveTo>
                  <a:pt x="0" y="0"/>
                </a:moveTo>
                <a:lnTo>
                  <a:pt x="7575919" y="0"/>
                </a:lnTo>
                <a:lnTo>
                  <a:pt x="7575919" y="5895860"/>
                </a:lnTo>
                <a:lnTo>
                  <a:pt x="0" y="5895860"/>
                </a:lnTo>
                <a:lnTo>
                  <a:pt x="0" y="0"/>
                </a:lnTo>
                <a:close/>
              </a:path>
            </a:pathLst>
          </a:custGeom>
          <a:blipFill rotWithShape="1">
            <a:blip r:embed="rId3">
              <a:alphaModFix/>
            </a:blip>
            <a:stretch>
              <a:fillRect b="0" l="0" r="0" t="0"/>
            </a:stretch>
          </a:blipFill>
          <a:ln>
            <a:noFill/>
          </a:ln>
        </p:spPr>
      </p:sp>
      <p:sp>
        <p:nvSpPr>
          <p:cNvPr id="178" name="Google Shape;178;p5"/>
          <p:cNvSpPr txBox="1"/>
          <p:nvPr/>
        </p:nvSpPr>
        <p:spPr>
          <a:xfrm>
            <a:off x="711451" y="1257864"/>
            <a:ext cx="10963021" cy="109474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399" u="none" cap="none" strike="noStrike">
                <a:solidFill>
                  <a:srgbClr val="434343"/>
                </a:solidFill>
                <a:latin typeface="Fraunces"/>
                <a:ea typeface="Fraunces"/>
                <a:cs typeface="Fraunces"/>
                <a:sym typeface="Fraunces"/>
              </a:rPr>
              <a:t>Modelo Atual</a:t>
            </a:r>
            <a:endParaRPr/>
          </a:p>
        </p:txBody>
      </p:sp>
      <p:sp>
        <p:nvSpPr>
          <p:cNvPr id="179" name="Google Shape;179;p5"/>
          <p:cNvSpPr txBox="1"/>
          <p:nvPr/>
        </p:nvSpPr>
        <p:spPr>
          <a:xfrm>
            <a:off x="15160864" y="8862060"/>
            <a:ext cx="2098436" cy="39624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0" i="0" lang="en-US" sz="2400" u="none" cap="none" strike="noStrike">
                <a:solidFill>
                  <a:srgbClr val="434343"/>
                </a:solidFill>
                <a:latin typeface="Fraunces Light"/>
                <a:ea typeface="Fraunces Light"/>
                <a:cs typeface="Fraunces Light"/>
                <a:sym typeface="Fraunces Light"/>
              </a:rPr>
              <a:t>3</a:t>
            </a:r>
            <a:endParaRPr/>
          </a:p>
        </p:txBody>
      </p:sp>
      <p:sp>
        <p:nvSpPr>
          <p:cNvPr id="180" name="Google Shape;180;p5"/>
          <p:cNvSpPr txBox="1"/>
          <p:nvPr/>
        </p:nvSpPr>
        <p:spPr>
          <a:xfrm>
            <a:off x="11257114" y="1921628"/>
            <a:ext cx="6280200" cy="7968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045" u="none" cap="none" strike="noStrike">
                <a:solidFill>
                  <a:srgbClr val="FFFFFF"/>
                </a:solidFill>
                <a:latin typeface="Montserrat"/>
                <a:ea typeface="Montserrat"/>
                <a:cs typeface="Montserrat"/>
                <a:sym typeface="Montserrat"/>
              </a:rPr>
              <a:t>Para as transações não fraudulentas, a distribuição é ampla, indicando uma variedade de scores atribuídos. Contudo, para as transações fraudulentas, embora muitas recebam scores altos - um bom indicativo de detecção correta - há uma tendência notável de algumas serem classificadas com scores mais baixos. Esse comportamento sugere que, apesar dos acertos, ainda há espaço para melhorias no modelo, principalmente na identificação precisa de todas as atividades fraudulentas.</a:t>
            </a:r>
            <a:endParaRPr sz="1200"/>
          </a:p>
        </p:txBody>
      </p:sp>
      <p:sp>
        <p:nvSpPr>
          <p:cNvPr id="181" name="Google Shape;181;p5"/>
          <p:cNvSpPr/>
          <p:nvPr/>
        </p:nvSpPr>
        <p:spPr>
          <a:xfrm>
            <a:off x="7134614" y="3707042"/>
            <a:ext cx="892042" cy="794729"/>
          </a:xfrm>
          <a:custGeom>
            <a:rect b="b" l="l" r="r" t="t"/>
            <a:pathLst>
              <a:path extrusionOk="0" h="794729" w="892042">
                <a:moveTo>
                  <a:pt x="0" y="0"/>
                </a:moveTo>
                <a:lnTo>
                  <a:pt x="892042" y="0"/>
                </a:lnTo>
                <a:lnTo>
                  <a:pt x="892042" y="794728"/>
                </a:lnTo>
                <a:lnTo>
                  <a:pt x="0" y="794728"/>
                </a:lnTo>
                <a:lnTo>
                  <a:pt x="0" y="0"/>
                </a:lnTo>
                <a:close/>
              </a:path>
            </a:pathLst>
          </a:custGeom>
          <a:blipFill rotWithShape="1">
            <a:blip r:embed="rId4">
              <a:alphaModFix/>
            </a:blip>
            <a:stretch>
              <a:fillRect b="0" l="0" r="0" t="0"/>
            </a:stretch>
          </a:blipFill>
          <a:ln>
            <a:noFill/>
          </a:ln>
        </p:spPr>
      </p:sp>
      <p:sp>
        <p:nvSpPr>
          <p:cNvPr id="182" name="Google Shape;182;p5"/>
          <p:cNvSpPr/>
          <p:nvPr/>
        </p:nvSpPr>
        <p:spPr>
          <a:xfrm flipH="1">
            <a:off x="1671102" y="6149114"/>
            <a:ext cx="892042" cy="794729"/>
          </a:xfrm>
          <a:custGeom>
            <a:rect b="b" l="l" r="r" t="t"/>
            <a:pathLst>
              <a:path extrusionOk="0" h="794729" w="892042">
                <a:moveTo>
                  <a:pt x="892042" y="0"/>
                </a:moveTo>
                <a:lnTo>
                  <a:pt x="0" y="0"/>
                </a:lnTo>
                <a:lnTo>
                  <a:pt x="0" y="794728"/>
                </a:lnTo>
                <a:lnTo>
                  <a:pt x="892042" y="794728"/>
                </a:lnTo>
                <a:lnTo>
                  <a:pt x="892042" y="0"/>
                </a:lnTo>
                <a:close/>
              </a:path>
            </a:pathLst>
          </a:custGeom>
          <a:blipFill rotWithShape="1">
            <a:blip r:embed="rId4">
              <a:alphaModFix/>
            </a:blip>
            <a:stretch>
              <a:fillRect b="0" l="0" r="0" t="0"/>
            </a:stretch>
          </a:blipFill>
          <a:ln>
            <a:noFill/>
          </a:ln>
        </p:spPr>
      </p:sp>
      <p:sp>
        <p:nvSpPr>
          <p:cNvPr id="183" name="Google Shape;183;p5"/>
          <p:cNvSpPr txBox="1"/>
          <p:nvPr/>
        </p:nvSpPr>
        <p:spPr>
          <a:xfrm>
            <a:off x="7580635" y="3240197"/>
            <a:ext cx="6280075" cy="29654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299" u="none" cap="none" strike="noStrike">
                <a:solidFill>
                  <a:srgbClr val="74040D"/>
                </a:solidFill>
                <a:latin typeface="Montserrat"/>
                <a:ea typeface="Montserrat"/>
                <a:cs typeface="Montserrat"/>
                <a:sym typeface="Montserrat"/>
              </a:rPr>
              <a:t>Fraude</a:t>
            </a:r>
            <a:endParaRPr/>
          </a:p>
        </p:txBody>
      </p:sp>
      <p:sp>
        <p:nvSpPr>
          <p:cNvPr id="184" name="Google Shape;184;p5"/>
          <p:cNvSpPr txBox="1"/>
          <p:nvPr/>
        </p:nvSpPr>
        <p:spPr>
          <a:xfrm>
            <a:off x="1359373" y="5655686"/>
            <a:ext cx="6280075" cy="29654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299" u="none" cap="none" strike="noStrike">
                <a:solidFill>
                  <a:srgbClr val="4242A6"/>
                </a:solidFill>
                <a:latin typeface="Montserrat"/>
                <a:ea typeface="Montserrat"/>
                <a:cs typeface="Montserrat"/>
                <a:sym typeface="Montserrat"/>
              </a:rPr>
              <a:t>Não Fraude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grpSp>
        <p:nvGrpSpPr>
          <p:cNvPr id="189" name="Google Shape;189;p6"/>
          <p:cNvGrpSpPr/>
          <p:nvPr/>
        </p:nvGrpSpPr>
        <p:grpSpPr>
          <a:xfrm>
            <a:off x="10283485" y="-216991"/>
            <a:ext cx="8820327" cy="10767376"/>
            <a:chOff x="0" y="-57150"/>
            <a:chExt cx="2323049" cy="2835852"/>
          </a:xfrm>
        </p:grpSpPr>
        <p:sp>
          <p:nvSpPr>
            <p:cNvPr id="190" name="Google Shape;190;p6"/>
            <p:cNvSpPr/>
            <p:nvPr/>
          </p:nvSpPr>
          <p:spPr>
            <a:xfrm>
              <a:off x="0" y="0"/>
              <a:ext cx="2323049" cy="2778702"/>
            </a:xfrm>
            <a:custGeom>
              <a:rect b="b" l="l" r="r" t="t"/>
              <a:pathLst>
                <a:path extrusionOk="0" h="2778702" w="2323049">
                  <a:moveTo>
                    <a:pt x="0" y="0"/>
                  </a:moveTo>
                  <a:lnTo>
                    <a:pt x="2323049" y="0"/>
                  </a:lnTo>
                  <a:lnTo>
                    <a:pt x="2323049" y="2778702"/>
                  </a:lnTo>
                  <a:lnTo>
                    <a:pt x="0" y="2778702"/>
                  </a:lnTo>
                  <a:close/>
                </a:path>
              </a:pathLst>
            </a:custGeom>
            <a:solidFill>
              <a:srgbClr val="434343"/>
            </a:solidFill>
            <a:ln>
              <a:noFill/>
            </a:ln>
          </p:spPr>
        </p:sp>
        <p:sp>
          <p:nvSpPr>
            <p:cNvPr id="191" name="Google Shape;191;p6"/>
            <p:cNvSpPr txBox="1"/>
            <p:nvPr/>
          </p:nvSpPr>
          <p:spPr>
            <a:xfrm>
              <a:off x="0" y="-57150"/>
              <a:ext cx="2323049" cy="2835852"/>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2" name="Google Shape;192;p6"/>
          <p:cNvGrpSpPr/>
          <p:nvPr/>
        </p:nvGrpSpPr>
        <p:grpSpPr>
          <a:xfrm>
            <a:off x="-1877587" y="-2489088"/>
            <a:ext cx="22085340" cy="3462486"/>
            <a:chOff x="0" y="-57150"/>
            <a:chExt cx="5816715" cy="911931"/>
          </a:xfrm>
        </p:grpSpPr>
        <p:sp>
          <p:nvSpPr>
            <p:cNvPr id="193" name="Google Shape;193;p6"/>
            <p:cNvSpPr/>
            <p:nvPr/>
          </p:nvSpPr>
          <p:spPr>
            <a:xfrm>
              <a:off x="0" y="0"/>
              <a:ext cx="5816715" cy="854781"/>
            </a:xfrm>
            <a:custGeom>
              <a:rect b="b" l="l" r="r" t="t"/>
              <a:pathLst>
                <a:path extrusionOk="0" h="854781" w="5816715">
                  <a:moveTo>
                    <a:pt x="0" y="0"/>
                  </a:moveTo>
                  <a:lnTo>
                    <a:pt x="5816715" y="0"/>
                  </a:lnTo>
                  <a:lnTo>
                    <a:pt x="5816715" y="854781"/>
                  </a:lnTo>
                  <a:lnTo>
                    <a:pt x="0" y="854781"/>
                  </a:lnTo>
                  <a:close/>
                </a:path>
              </a:pathLst>
            </a:custGeom>
            <a:solidFill>
              <a:srgbClr val="FFD966"/>
            </a:solidFill>
            <a:ln>
              <a:noFill/>
            </a:ln>
          </p:spPr>
        </p:sp>
        <p:sp>
          <p:nvSpPr>
            <p:cNvPr id="194" name="Google Shape;194;p6"/>
            <p:cNvSpPr txBox="1"/>
            <p:nvPr/>
          </p:nvSpPr>
          <p:spPr>
            <a:xfrm>
              <a:off x="0" y="-57150"/>
              <a:ext cx="5816715" cy="91193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5" name="Google Shape;195;p6"/>
          <p:cNvSpPr/>
          <p:nvPr/>
        </p:nvSpPr>
        <p:spPr>
          <a:xfrm>
            <a:off x="711451" y="2762179"/>
            <a:ext cx="8136383" cy="6445245"/>
          </a:xfrm>
          <a:custGeom>
            <a:rect b="b" l="l" r="r" t="t"/>
            <a:pathLst>
              <a:path extrusionOk="0" h="6445245" w="8136383">
                <a:moveTo>
                  <a:pt x="0" y="0"/>
                </a:moveTo>
                <a:lnTo>
                  <a:pt x="8136383" y="0"/>
                </a:lnTo>
                <a:lnTo>
                  <a:pt x="8136383" y="6445245"/>
                </a:lnTo>
                <a:lnTo>
                  <a:pt x="0" y="6445245"/>
                </a:lnTo>
                <a:lnTo>
                  <a:pt x="0" y="0"/>
                </a:lnTo>
                <a:close/>
              </a:path>
            </a:pathLst>
          </a:custGeom>
          <a:blipFill rotWithShape="1">
            <a:blip r:embed="rId3">
              <a:alphaModFix/>
            </a:blip>
            <a:stretch>
              <a:fillRect b="0" l="0" r="0" t="0"/>
            </a:stretch>
          </a:blipFill>
          <a:ln>
            <a:noFill/>
          </a:ln>
        </p:spPr>
      </p:sp>
      <p:sp>
        <p:nvSpPr>
          <p:cNvPr id="196" name="Google Shape;196;p6"/>
          <p:cNvSpPr txBox="1"/>
          <p:nvPr/>
        </p:nvSpPr>
        <p:spPr>
          <a:xfrm>
            <a:off x="711451" y="1257864"/>
            <a:ext cx="10963021" cy="109474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399" u="none" cap="none" strike="noStrike">
                <a:solidFill>
                  <a:srgbClr val="434343"/>
                </a:solidFill>
                <a:latin typeface="Fraunces"/>
                <a:ea typeface="Fraunces"/>
                <a:cs typeface="Fraunces"/>
                <a:sym typeface="Fraunces"/>
              </a:rPr>
              <a:t>Modelo Atual</a:t>
            </a:r>
            <a:endParaRPr/>
          </a:p>
        </p:txBody>
      </p:sp>
      <p:sp>
        <p:nvSpPr>
          <p:cNvPr id="197" name="Google Shape;197;p6"/>
          <p:cNvSpPr txBox="1"/>
          <p:nvPr/>
        </p:nvSpPr>
        <p:spPr>
          <a:xfrm>
            <a:off x="15160864" y="8862060"/>
            <a:ext cx="2098436" cy="39624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0" i="0" lang="en-US" sz="2400" u="none" cap="none" strike="noStrike">
                <a:solidFill>
                  <a:srgbClr val="434343"/>
                </a:solidFill>
                <a:latin typeface="Fraunces Light"/>
                <a:ea typeface="Fraunces Light"/>
                <a:cs typeface="Fraunces Light"/>
                <a:sym typeface="Fraunces Light"/>
              </a:rPr>
              <a:t>3</a:t>
            </a:r>
            <a:endParaRPr/>
          </a:p>
        </p:txBody>
      </p:sp>
      <p:sp>
        <p:nvSpPr>
          <p:cNvPr id="198" name="Google Shape;198;p6"/>
          <p:cNvSpPr txBox="1"/>
          <p:nvPr/>
        </p:nvSpPr>
        <p:spPr>
          <a:xfrm>
            <a:off x="10610068" y="2638414"/>
            <a:ext cx="7308900" cy="69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45" u="none" cap="none" strike="noStrike">
                <a:solidFill>
                  <a:srgbClr val="FFFFFF"/>
                </a:solidFill>
                <a:latin typeface="Montserrat"/>
                <a:ea typeface="Montserrat"/>
                <a:cs typeface="Montserrat"/>
                <a:sym typeface="Montserrat"/>
              </a:rPr>
              <a:t>Para cada threshold do modelo anterior, calculou-se a receita e a perda em fraude. Para o dataset de treino, o maior lucro calculado foi para o threshold de </a:t>
            </a:r>
            <a:r>
              <a:rPr lang="en-US" sz="3245">
                <a:solidFill>
                  <a:srgbClr val="FFFFFF"/>
                </a:solidFill>
                <a:latin typeface="Montserrat"/>
                <a:ea typeface="Montserrat"/>
                <a:cs typeface="Montserrat"/>
                <a:sym typeface="Montserrat"/>
              </a:rPr>
              <a:t>X</a:t>
            </a:r>
            <a:r>
              <a:rPr b="0" i="0" lang="en-US" sz="3245" u="none" cap="none" strike="noStrike">
                <a:solidFill>
                  <a:srgbClr val="FFFFFF"/>
                </a:solidFill>
                <a:latin typeface="Montserrat"/>
                <a:ea typeface="Montserrat"/>
                <a:cs typeface="Montserrat"/>
                <a:sym typeface="Montserrat"/>
              </a:rPr>
              <a:t>.</a:t>
            </a:r>
            <a:endParaRPr/>
          </a:p>
          <a:p>
            <a:pPr indent="0" lvl="0" marL="0" marR="0" rtl="0" algn="l">
              <a:lnSpc>
                <a:spcPct val="100000"/>
              </a:lnSpc>
              <a:spcBef>
                <a:spcPts val="0"/>
              </a:spcBef>
              <a:spcAft>
                <a:spcPts val="0"/>
              </a:spcAft>
              <a:buNone/>
            </a:pPr>
            <a:r>
              <a:t/>
            </a:r>
            <a:endParaRPr b="0" i="0" sz="3245" u="none" cap="none" strike="noStrike">
              <a:solidFill>
                <a:srgbClr val="FFFFFF"/>
              </a:solidFill>
              <a:latin typeface="Montserrat"/>
              <a:ea typeface="Montserrat"/>
              <a:cs typeface="Montserrat"/>
              <a:sym typeface="Montserrat"/>
            </a:endParaRPr>
          </a:p>
          <a:p>
            <a:pPr indent="0" lvl="0" marL="0" marR="0" rtl="0" algn="l">
              <a:lnSpc>
                <a:spcPct val="100000"/>
              </a:lnSpc>
              <a:spcBef>
                <a:spcPts val="0"/>
              </a:spcBef>
              <a:spcAft>
                <a:spcPts val="0"/>
              </a:spcAft>
              <a:buNone/>
            </a:pPr>
            <a:r>
              <a:rPr b="0" i="0" lang="en-US" sz="3245" u="none" cap="none" strike="noStrike">
                <a:solidFill>
                  <a:srgbClr val="FFFFFF"/>
                </a:solidFill>
                <a:latin typeface="Montserrat"/>
                <a:ea typeface="Montserrat"/>
                <a:cs typeface="Montserrat"/>
                <a:sym typeface="Montserrat"/>
              </a:rPr>
              <a:t>No conjunto de teste, obtivemos:</a:t>
            </a:r>
            <a:endParaRPr/>
          </a:p>
          <a:p>
            <a:pPr indent="0" lvl="0" marL="0" marR="0" rtl="0" algn="l">
              <a:lnSpc>
                <a:spcPct val="100000"/>
              </a:lnSpc>
              <a:spcBef>
                <a:spcPts val="0"/>
              </a:spcBef>
              <a:spcAft>
                <a:spcPts val="0"/>
              </a:spcAft>
              <a:buNone/>
            </a:pPr>
            <a:r>
              <a:t/>
            </a:r>
            <a:endParaRPr b="0" i="0" sz="3245" u="none" cap="none" strike="noStrike">
              <a:solidFill>
                <a:srgbClr val="FFFFFF"/>
              </a:solidFill>
              <a:latin typeface="Montserrat"/>
              <a:ea typeface="Montserrat"/>
              <a:cs typeface="Montserrat"/>
              <a:sym typeface="Montserrat"/>
            </a:endParaRPr>
          </a:p>
          <a:p>
            <a:pPr indent="0" lvl="0" marL="0" marR="0" rtl="0" algn="l">
              <a:lnSpc>
                <a:spcPct val="100000"/>
              </a:lnSpc>
              <a:spcBef>
                <a:spcPts val="0"/>
              </a:spcBef>
              <a:spcAft>
                <a:spcPts val="0"/>
              </a:spcAft>
              <a:buNone/>
            </a:pPr>
            <a:r>
              <a:rPr b="1" i="0" lang="en-US" sz="3245" u="none" cap="none" strike="noStrike">
                <a:solidFill>
                  <a:srgbClr val="FFFFFF"/>
                </a:solidFill>
                <a:latin typeface="Montserrat"/>
                <a:ea typeface="Montserrat"/>
                <a:cs typeface="Montserrat"/>
                <a:sym typeface="Montserrat"/>
              </a:rPr>
              <a:t>Lucro</a:t>
            </a:r>
            <a:r>
              <a:rPr b="0" i="0" lang="en-US" sz="3245" u="none" cap="none" strike="noStrike">
                <a:solidFill>
                  <a:srgbClr val="FFFFFF"/>
                </a:solidFill>
                <a:latin typeface="Montserrat"/>
                <a:ea typeface="Montserrat"/>
                <a:cs typeface="Montserrat"/>
                <a:sym typeface="Montserrat"/>
              </a:rPr>
              <a:t>: </a:t>
            </a:r>
            <a:r>
              <a:rPr lang="en-US" sz="3245">
                <a:solidFill>
                  <a:srgbClr val="FFFFFF"/>
                </a:solidFill>
                <a:latin typeface="Montserrat"/>
                <a:ea typeface="Montserrat"/>
                <a:cs typeface="Montserrat"/>
                <a:sym typeface="Montserrat"/>
              </a:rPr>
              <a:t>xx</a:t>
            </a:r>
            <a:endParaRPr/>
          </a:p>
          <a:p>
            <a:pPr indent="0" lvl="0" marL="0" marR="0" rtl="0" algn="l">
              <a:lnSpc>
                <a:spcPct val="100000"/>
              </a:lnSpc>
              <a:spcBef>
                <a:spcPts val="0"/>
              </a:spcBef>
              <a:spcAft>
                <a:spcPts val="0"/>
              </a:spcAft>
              <a:buNone/>
            </a:pPr>
            <a:r>
              <a:rPr b="1" i="0" lang="en-US" sz="3245" u="none" cap="none" strike="noStrike">
                <a:solidFill>
                  <a:srgbClr val="FFFFFF"/>
                </a:solidFill>
                <a:latin typeface="Montserrat"/>
                <a:ea typeface="Montserrat"/>
                <a:cs typeface="Montserrat"/>
                <a:sym typeface="Montserrat"/>
              </a:rPr>
              <a:t>Perda em fraude</a:t>
            </a:r>
            <a:r>
              <a:rPr b="0" i="0" lang="en-US" sz="3245" u="none" cap="none" strike="noStrike">
                <a:solidFill>
                  <a:srgbClr val="FFFFFF"/>
                </a:solidFill>
                <a:latin typeface="Montserrat"/>
                <a:ea typeface="Montserrat"/>
                <a:cs typeface="Montserrat"/>
                <a:sym typeface="Montserrat"/>
              </a:rPr>
              <a:t>: </a:t>
            </a:r>
            <a:r>
              <a:rPr lang="en-US" sz="3245">
                <a:solidFill>
                  <a:srgbClr val="FFFFFF"/>
                </a:solidFill>
                <a:latin typeface="Montserrat"/>
                <a:ea typeface="Montserrat"/>
                <a:cs typeface="Montserrat"/>
                <a:sym typeface="Montserrat"/>
              </a:rPr>
              <a:t>xx</a:t>
            </a:r>
            <a:endParaRPr/>
          </a:p>
          <a:p>
            <a:pPr indent="0" lvl="0" marL="0" marR="0" rtl="0" algn="l">
              <a:lnSpc>
                <a:spcPct val="100000"/>
              </a:lnSpc>
              <a:spcBef>
                <a:spcPts val="0"/>
              </a:spcBef>
              <a:spcAft>
                <a:spcPts val="0"/>
              </a:spcAft>
              <a:buNone/>
            </a:pPr>
            <a:r>
              <a:rPr b="1" i="0" lang="en-US" sz="3245" u="none" cap="none" strike="noStrike">
                <a:solidFill>
                  <a:srgbClr val="FFFFFF"/>
                </a:solidFill>
                <a:latin typeface="Montserrat"/>
                <a:ea typeface="Montserrat"/>
                <a:cs typeface="Montserrat"/>
                <a:sym typeface="Montserrat"/>
              </a:rPr>
              <a:t>Receita</a:t>
            </a:r>
            <a:r>
              <a:rPr b="0" i="0" lang="en-US" sz="3245" u="none" cap="none" strike="noStrike">
                <a:solidFill>
                  <a:srgbClr val="FFFFFF"/>
                </a:solidFill>
                <a:latin typeface="Montserrat"/>
                <a:ea typeface="Montserrat"/>
                <a:cs typeface="Montserrat"/>
                <a:sym typeface="Montserrat"/>
              </a:rPr>
              <a:t>: </a:t>
            </a:r>
            <a:r>
              <a:rPr lang="en-US" sz="3245">
                <a:solidFill>
                  <a:srgbClr val="FFFFFF"/>
                </a:solidFill>
                <a:latin typeface="Montserrat"/>
                <a:ea typeface="Montserrat"/>
                <a:cs typeface="Montserrat"/>
                <a:sym typeface="Montserrat"/>
              </a:rPr>
              <a:t>xx</a:t>
            </a:r>
            <a:endParaRPr/>
          </a:p>
          <a:p>
            <a:pPr indent="0" lvl="0" marL="0" marR="0" rtl="0" algn="l">
              <a:lnSpc>
                <a:spcPct val="100000"/>
              </a:lnSpc>
              <a:spcBef>
                <a:spcPts val="0"/>
              </a:spcBef>
              <a:spcAft>
                <a:spcPts val="0"/>
              </a:spcAft>
              <a:buNone/>
            </a:pPr>
            <a:r>
              <a:rPr b="1" i="0" lang="en-US" sz="3245" u="none" cap="none" strike="noStrike">
                <a:solidFill>
                  <a:srgbClr val="FFFFFF"/>
                </a:solidFill>
                <a:latin typeface="Montserrat"/>
                <a:ea typeface="Montserrat"/>
                <a:cs typeface="Montserrat"/>
                <a:sym typeface="Montserrat"/>
              </a:rPr>
              <a:t>Taxa de fraude</a:t>
            </a:r>
            <a:r>
              <a:rPr b="0" i="0" lang="en-US" sz="3245" u="none" cap="none" strike="noStrike">
                <a:solidFill>
                  <a:srgbClr val="FFFFFF"/>
                </a:solidFill>
                <a:latin typeface="Montserrat"/>
                <a:ea typeface="Montserrat"/>
                <a:cs typeface="Montserrat"/>
                <a:sym typeface="Montserrat"/>
              </a:rPr>
              <a:t>: </a:t>
            </a:r>
            <a:r>
              <a:rPr lang="en-US" sz="3245">
                <a:solidFill>
                  <a:srgbClr val="FFFFFF"/>
                </a:solidFill>
                <a:latin typeface="Montserrat"/>
                <a:ea typeface="Montserrat"/>
                <a:cs typeface="Montserrat"/>
                <a:sym typeface="Montserrat"/>
              </a:rPr>
              <a:t>xx</a:t>
            </a:r>
            <a:endParaRPr/>
          </a:p>
          <a:p>
            <a:pPr indent="0" lvl="0" marL="0" marR="0" rtl="0" algn="l">
              <a:lnSpc>
                <a:spcPct val="100000"/>
              </a:lnSpc>
              <a:spcBef>
                <a:spcPts val="0"/>
              </a:spcBef>
              <a:spcAft>
                <a:spcPts val="0"/>
              </a:spcAft>
              <a:buNone/>
            </a:pPr>
            <a:r>
              <a:rPr b="1" i="0" lang="en-US" sz="3245" u="none" cap="none" strike="noStrike">
                <a:solidFill>
                  <a:srgbClr val="FFFFFF"/>
                </a:solidFill>
                <a:latin typeface="Montserrat"/>
                <a:ea typeface="Montserrat"/>
                <a:cs typeface="Montserrat"/>
                <a:sym typeface="Montserrat"/>
              </a:rPr>
              <a:t>Taxa de aprovação</a:t>
            </a:r>
            <a:r>
              <a:rPr b="0" i="0" lang="en-US" sz="3245" u="none" cap="none" strike="noStrike">
                <a:solidFill>
                  <a:srgbClr val="FFFFFF"/>
                </a:solidFill>
                <a:latin typeface="Montserrat"/>
                <a:ea typeface="Montserrat"/>
                <a:cs typeface="Montserrat"/>
                <a:sym typeface="Montserrat"/>
              </a:rPr>
              <a:t>: </a:t>
            </a:r>
            <a:r>
              <a:rPr lang="en-US" sz="3245">
                <a:solidFill>
                  <a:srgbClr val="FFFFFF"/>
                </a:solidFill>
                <a:latin typeface="Montserrat"/>
                <a:ea typeface="Montserrat"/>
                <a:cs typeface="Montserrat"/>
                <a:sym typeface="Montserrat"/>
              </a:rPr>
              <a:t>xx</a:t>
            </a:r>
            <a:endParaRPr/>
          </a:p>
          <a:p>
            <a:pPr indent="0" lvl="0" marL="0" marR="0" rtl="0" algn="l">
              <a:lnSpc>
                <a:spcPct val="100000"/>
              </a:lnSpc>
              <a:spcBef>
                <a:spcPts val="0"/>
              </a:spcBef>
              <a:spcAft>
                <a:spcPts val="0"/>
              </a:spcAft>
              <a:buNone/>
            </a:pPr>
            <a:r>
              <a:t/>
            </a:r>
            <a:endParaRPr b="0" i="0" sz="3245"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grpSp>
        <p:nvGrpSpPr>
          <p:cNvPr id="203" name="Google Shape;203;p7"/>
          <p:cNvGrpSpPr/>
          <p:nvPr/>
        </p:nvGrpSpPr>
        <p:grpSpPr>
          <a:xfrm>
            <a:off x="-1877587" y="-2489088"/>
            <a:ext cx="22085340" cy="3462486"/>
            <a:chOff x="0" y="-57150"/>
            <a:chExt cx="5816715" cy="911931"/>
          </a:xfrm>
        </p:grpSpPr>
        <p:sp>
          <p:nvSpPr>
            <p:cNvPr id="204" name="Google Shape;204;p7"/>
            <p:cNvSpPr/>
            <p:nvPr/>
          </p:nvSpPr>
          <p:spPr>
            <a:xfrm>
              <a:off x="0" y="0"/>
              <a:ext cx="5816715" cy="854781"/>
            </a:xfrm>
            <a:custGeom>
              <a:rect b="b" l="l" r="r" t="t"/>
              <a:pathLst>
                <a:path extrusionOk="0" h="854781" w="5816715">
                  <a:moveTo>
                    <a:pt x="0" y="0"/>
                  </a:moveTo>
                  <a:lnTo>
                    <a:pt x="5816715" y="0"/>
                  </a:lnTo>
                  <a:lnTo>
                    <a:pt x="5816715" y="854781"/>
                  </a:lnTo>
                  <a:lnTo>
                    <a:pt x="0" y="854781"/>
                  </a:lnTo>
                  <a:close/>
                </a:path>
              </a:pathLst>
            </a:custGeom>
            <a:solidFill>
              <a:srgbClr val="FFD966"/>
            </a:solidFill>
            <a:ln>
              <a:noFill/>
            </a:ln>
          </p:spPr>
        </p:sp>
        <p:sp>
          <p:nvSpPr>
            <p:cNvPr id="205" name="Google Shape;205;p7"/>
            <p:cNvSpPr txBox="1"/>
            <p:nvPr/>
          </p:nvSpPr>
          <p:spPr>
            <a:xfrm>
              <a:off x="0" y="-57150"/>
              <a:ext cx="5816715" cy="91193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6" name="Google Shape;206;p7"/>
          <p:cNvSpPr/>
          <p:nvPr/>
        </p:nvSpPr>
        <p:spPr>
          <a:xfrm>
            <a:off x="5673659" y="3899138"/>
            <a:ext cx="6374963" cy="6139886"/>
          </a:xfrm>
          <a:custGeom>
            <a:rect b="b" l="l" r="r" t="t"/>
            <a:pathLst>
              <a:path extrusionOk="0" h="6139886" w="6374963">
                <a:moveTo>
                  <a:pt x="0" y="0"/>
                </a:moveTo>
                <a:lnTo>
                  <a:pt x="6374963" y="0"/>
                </a:lnTo>
                <a:lnTo>
                  <a:pt x="6374963" y="6139887"/>
                </a:lnTo>
                <a:lnTo>
                  <a:pt x="0" y="6139887"/>
                </a:lnTo>
                <a:lnTo>
                  <a:pt x="0" y="0"/>
                </a:lnTo>
                <a:close/>
              </a:path>
            </a:pathLst>
          </a:custGeom>
          <a:blipFill rotWithShape="1">
            <a:blip r:embed="rId3">
              <a:alphaModFix/>
            </a:blip>
            <a:stretch>
              <a:fillRect b="0" l="0" r="0" t="0"/>
            </a:stretch>
          </a:blipFill>
          <a:ln>
            <a:noFill/>
          </a:ln>
        </p:spPr>
      </p:sp>
      <p:sp>
        <p:nvSpPr>
          <p:cNvPr id="207" name="Google Shape;207;p7"/>
          <p:cNvSpPr txBox="1"/>
          <p:nvPr/>
        </p:nvSpPr>
        <p:spPr>
          <a:xfrm>
            <a:off x="0" y="1208643"/>
            <a:ext cx="18288000" cy="109474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6399" u="none" cap="none" strike="noStrike">
                <a:solidFill>
                  <a:srgbClr val="434343"/>
                </a:solidFill>
                <a:latin typeface="Fraunces"/>
                <a:ea typeface="Fraunces"/>
                <a:cs typeface="Fraunces"/>
                <a:sym typeface="Fraunces"/>
              </a:rPr>
              <a:t>Como melhorar o modelo atual?</a:t>
            </a:r>
            <a:endParaRPr/>
          </a:p>
        </p:txBody>
      </p:sp>
      <p:sp>
        <p:nvSpPr>
          <p:cNvPr id="208" name="Google Shape;208;p7"/>
          <p:cNvSpPr txBox="1"/>
          <p:nvPr/>
        </p:nvSpPr>
        <p:spPr>
          <a:xfrm>
            <a:off x="15160864" y="8862060"/>
            <a:ext cx="2098436" cy="39624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0" i="0" lang="en-US" sz="2400" u="none" cap="none" strike="noStrike">
                <a:solidFill>
                  <a:srgbClr val="434343"/>
                </a:solidFill>
                <a:latin typeface="Fraunces Light"/>
                <a:ea typeface="Fraunces Light"/>
                <a:cs typeface="Fraunces Light"/>
                <a:sym typeface="Fraunces Light"/>
              </a:rPr>
              <a:t>3</a:t>
            </a:r>
            <a:endParaRPr/>
          </a:p>
        </p:txBody>
      </p:sp>
      <p:sp>
        <p:nvSpPr>
          <p:cNvPr id="209" name="Google Shape;209;p7"/>
          <p:cNvSpPr txBox="1"/>
          <p:nvPr/>
        </p:nvSpPr>
        <p:spPr>
          <a:xfrm>
            <a:off x="2018054" y="2617708"/>
            <a:ext cx="14192028" cy="967105"/>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99" u="none" cap="none" strike="noStrike">
                <a:solidFill>
                  <a:srgbClr val="434343"/>
                </a:solidFill>
                <a:latin typeface="Montserrat"/>
                <a:ea typeface="Montserrat"/>
                <a:cs typeface="Montserrat"/>
                <a:sym typeface="Montserrat"/>
              </a:rPr>
              <a:t>Em linhas gerais, a criação de um modelo primeiro envolve a coleta, entendimento e limpeza dos dados, treino e teste do modelo e, por fim, ajustes finos.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grpSp>
        <p:nvGrpSpPr>
          <p:cNvPr id="214" name="Google Shape;214;p12"/>
          <p:cNvGrpSpPr/>
          <p:nvPr/>
        </p:nvGrpSpPr>
        <p:grpSpPr>
          <a:xfrm>
            <a:off x="10283485" y="-216991"/>
            <a:ext cx="8820327" cy="10767376"/>
            <a:chOff x="0" y="-57150"/>
            <a:chExt cx="2323049" cy="2835852"/>
          </a:xfrm>
        </p:grpSpPr>
        <p:sp>
          <p:nvSpPr>
            <p:cNvPr id="215" name="Google Shape;215;p12"/>
            <p:cNvSpPr/>
            <p:nvPr/>
          </p:nvSpPr>
          <p:spPr>
            <a:xfrm>
              <a:off x="0" y="0"/>
              <a:ext cx="2323049" cy="2778702"/>
            </a:xfrm>
            <a:custGeom>
              <a:rect b="b" l="l" r="r" t="t"/>
              <a:pathLst>
                <a:path extrusionOk="0" h="2778702" w="2323049">
                  <a:moveTo>
                    <a:pt x="0" y="0"/>
                  </a:moveTo>
                  <a:lnTo>
                    <a:pt x="2323049" y="0"/>
                  </a:lnTo>
                  <a:lnTo>
                    <a:pt x="2323049" y="2778702"/>
                  </a:lnTo>
                  <a:lnTo>
                    <a:pt x="0" y="2778702"/>
                  </a:lnTo>
                  <a:close/>
                </a:path>
              </a:pathLst>
            </a:custGeom>
            <a:solidFill>
              <a:srgbClr val="434343"/>
            </a:solidFill>
            <a:ln>
              <a:noFill/>
            </a:ln>
          </p:spPr>
        </p:sp>
        <p:sp>
          <p:nvSpPr>
            <p:cNvPr id="216" name="Google Shape;216;p12"/>
            <p:cNvSpPr txBox="1"/>
            <p:nvPr/>
          </p:nvSpPr>
          <p:spPr>
            <a:xfrm>
              <a:off x="0" y="-57150"/>
              <a:ext cx="2323049" cy="2835852"/>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7" name="Google Shape;217;p12"/>
          <p:cNvGrpSpPr/>
          <p:nvPr/>
        </p:nvGrpSpPr>
        <p:grpSpPr>
          <a:xfrm>
            <a:off x="-1877587" y="-2489088"/>
            <a:ext cx="22085340" cy="3462486"/>
            <a:chOff x="0" y="-57150"/>
            <a:chExt cx="5816715" cy="911931"/>
          </a:xfrm>
        </p:grpSpPr>
        <p:sp>
          <p:nvSpPr>
            <p:cNvPr id="218" name="Google Shape;218;p12"/>
            <p:cNvSpPr/>
            <p:nvPr/>
          </p:nvSpPr>
          <p:spPr>
            <a:xfrm>
              <a:off x="0" y="0"/>
              <a:ext cx="5816715" cy="854781"/>
            </a:xfrm>
            <a:custGeom>
              <a:rect b="b" l="l" r="r" t="t"/>
              <a:pathLst>
                <a:path extrusionOk="0" h="854781" w="5816715">
                  <a:moveTo>
                    <a:pt x="0" y="0"/>
                  </a:moveTo>
                  <a:lnTo>
                    <a:pt x="5816715" y="0"/>
                  </a:lnTo>
                  <a:lnTo>
                    <a:pt x="5816715" y="854781"/>
                  </a:lnTo>
                  <a:lnTo>
                    <a:pt x="0" y="854781"/>
                  </a:lnTo>
                  <a:close/>
                </a:path>
              </a:pathLst>
            </a:custGeom>
            <a:solidFill>
              <a:srgbClr val="FFD966"/>
            </a:solidFill>
            <a:ln>
              <a:noFill/>
            </a:ln>
          </p:spPr>
        </p:sp>
        <p:sp>
          <p:nvSpPr>
            <p:cNvPr id="219" name="Google Shape;219;p12"/>
            <p:cNvSpPr txBox="1"/>
            <p:nvPr/>
          </p:nvSpPr>
          <p:spPr>
            <a:xfrm>
              <a:off x="0" y="-57150"/>
              <a:ext cx="5816715" cy="91193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0" name="Google Shape;220;p12"/>
          <p:cNvSpPr/>
          <p:nvPr/>
        </p:nvSpPr>
        <p:spPr>
          <a:xfrm>
            <a:off x="1527636" y="2809722"/>
            <a:ext cx="6372980" cy="6448578"/>
          </a:xfrm>
          <a:custGeom>
            <a:rect b="b" l="l" r="r" t="t"/>
            <a:pathLst>
              <a:path extrusionOk="0" h="6448578" w="6372980">
                <a:moveTo>
                  <a:pt x="0" y="0"/>
                </a:moveTo>
                <a:lnTo>
                  <a:pt x="6372979" y="0"/>
                </a:lnTo>
                <a:lnTo>
                  <a:pt x="6372979" y="6448578"/>
                </a:lnTo>
                <a:lnTo>
                  <a:pt x="0" y="6448578"/>
                </a:lnTo>
                <a:lnTo>
                  <a:pt x="0" y="0"/>
                </a:lnTo>
                <a:close/>
              </a:path>
            </a:pathLst>
          </a:custGeom>
          <a:blipFill rotWithShape="1">
            <a:blip r:embed="rId3">
              <a:alphaModFix/>
            </a:blip>
            <a:stretch>
              <a:fillRect b="0" l="0" r="0" t="0"/>
            </a:stretch>
          </a:blipFill>
          <a:ln>
            <a:noFill/>
          </a:ln>
        </p:spPr>
      </p:sp>
      <p:sp>
        <p:nvSpPr>
          <p:cNvPr id="221" name="Google Shape;221;p12"/>
          <p:cNvSpPr txBox="1"/>
          <p:nvPr/>
        </p:nvSpPr>
        <p:spPr>
          <a:xfrm>
            <a:off x="711451" y="1257864"/>
            <a:ext cx="10963021" cy="109474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399" u="none" cap="none" strike="noStrike">
                <a:solidFill>
                  <a:srgbClr val="434343"/>
                </a:solidFill>
                <a:latin typeface="Fraunces"/>
                <a:ea typeface="Fraunces"/>
                <a:cs typeface="Fraunces"/>
                <a:sym typeface="Fraunces"/>
              </a:rPr>
              <a:t>Modelo Treinado</a:t>
            </a:r>
            <a:endParaRPr/>
          </a:p>
        </p:txBody>
      </p:sp>
      <p:sp>
        <p:nvSpPr>
          <p:cNvPr id="222" name="Google Shape;222;p12"/>
          <p:cNvSpPr txBox="1"/>
          <p:nvPr/>
        </p:nvSpPr>
        <p:spPr>
          <a:xfrm>
            <a:off x="15160864" y="8862060"/>
            <a:ext cx="2098436" cy="39624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0" i="0" lang="en-US" sz="2400" u="none" cap="none" strike="noStrike">
                <a:solidFill>
                  <a:srgbClr val="434343"/>
                </a:solidFill>
                <a:latin typeface="Fraunces Light"/>
                <a:ea typeface="Fraunces Light"/>
                <a:cs typeface="Fraunces Light"/>
                <a:sym typeface="Fraunces Light"/>
              </a:rPr>
              <a:t>3</a:t>
            </a:r>
            <a:endParaRPr/>
          </a:p>
        </p:txBody>
      </p:sp>
      <p:sp>
        <p:nvSpPr>
          <p:cNvPr id="223" name="Google Shape;223;p12"/>
          <p:cNvSpPr txBox="1"/>
          <p:nvPr/>
        </p:nvSpPr>
        <p:spPr>
          <a:xfrm>
            <a:off x="11089416" y="3603397"/>
            <a:ext cx="6366767" cy="411264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90" u="none" cap="none" strike="noStrike">
                <a:solidFill>
                  <a:srgbClr val="FFFFFF"/>
                </a:solidFill>
                <a:latin typeface="Montserrat"/>
                <a:ea typeface="Montserrat"/>
                <a:cs typeface="Montserrat"/>
                <a:sym typeface="Montserrat"/>
              </a:rPr>
              <a:t>O gráfico ilustra a distribuição de scores do modelo, com clara distinção entre fraudadores (vermelho) e não fraudadores (azul). Contudo, a interseção considerável entre as curvas pode ter implicações financeiras significativas para a empresa.</a:t>
            </a:r>
            <a:endParaRPr/>
          </a:p>
          <a:p>
            <a:pPr indent="0" lvl="0" marL="0" marR="0" rtl="0" algn="l">
              <a:lnSpc>
                <a:spcPct val="100000"/>
              </a:lnSpc>
              <a:spcBef>
                <a:spcPts val="0"/>
              </a:spcBef>
              <a:spcAft>
                <a:spcPts val="0"/>
              </a:spcAft>
              <a:buNone/>
            </a:pPr>
            <a:r>
              <a:t/>
            </a:r>
            <a:endParaRPr b="0" i="0" sz="3290" u="none" cap="none" strike="noStrike">
              <a:solidFill>
                <a:srgbClr val="FFFFFF"/>
              </a:solidFill>
              <a:latin typeface="Montserrat"/>
              <a:ea typeface="Montserrat"/>
              <a:cs typeface="Montserrat"/>
              <a:sym typeface="Montserrat"/>
            </a:endParaRPr>
          </a:p>
          <a:p>
            <a:pPr indent="0" lvl="0" marL="0" marR="0" rtl="0" algn="just">
              <a:lnSpc>
                <a:spcPct val="100000"/>
              </a:lnSpc>
              <a:spcBef>
                <a:spcPts val="0"/>
              </a:spcBef>
              <a:spcAft>
                <a:spcPts val="0"/>
              </a:spcAft>
              <a:buNone/>
            </a:pPr>
            <a:r>
              <a:t/>
            </a:r>
            <a:endParaRPr b="0" i="0" sz="3290" u="none" cap="none" strike="noStrike">
              <a:solidFill>
                <a:srgbClr val="FFFFFF"/>
              </a:solidFill>
              <a:latin typeface="Montserrat"/>
              <a:ea typeface="Montserrat"/>
              <a:cs typeface="Montserrat"/>
              <a:sym typeface="Montserrat"/>
            </a:endParaRPr>
          </a:p>
        </p:txBody>
      </p:sp>
      <p:sp>
        <p:nvSpPr>
          <p:cNvPr id="224" name="Google Shape;224;p12"/>
          <p:cNvSpPr/>
          <p:nvPr/>
        </p:nvSpPr>
        <p:spPr>
          <a:xfrm>
            <a:off x="6420912" y="5626382"/>
            <a:ext cx="892042" cy="794729"/>
          </a:xfrm>
          <a:custGeom>
            <a:rect b="b" l="l" r="r" t="t"/>
            <a:pathLst>
              <a:path extrusionOk="0" h="794729" w="892042">
                <a:moveTo>
                  <a:pt x="0" y="0"/>
                </a:moveTo>
                <a:lnTo>
                  <a:pt x="892042" y="0"/>
                </a:lnTo>
                <a:lnTo>
                  <a:pt x="892042" y="794729"/>
                </a:lnTo>
                <a:lnTo>
                  <a:pt x="0" y="794729"/>
                </a:lnTo>
                <a:lnTo>
                  <a:pt x="0" y="0"/>
                </a:lnTo>
                <a:close/>
              </a:path>
            </a:pathLst>
          </a:custGeom>
          <a:blipFill rotWithShape="1">
            <a:blip r:embed="rId4">
              <a:alphaModFix/>
            </a:blip>
            <a:stretch>
              <a:fillRect b="0" l="0" r="0" t="0"/>
            </a:stretch>
          </a:blipFill>
          <a:ln>
            <a:noFill/>
          </a:ln>
        </p:spPr>
      </p:sp>
      <p:sp>
        <p:nvSpPr>
          <p:cNvPr id="225" name="Google Shape;225;p12"/>
          <p:cNvSpPr/>
          <p:nvPr/>
        </p:nvSpPr>
        <p:spPr>
          <a:xfrm flipH="1">
            <a:off x="2217269" y="4348771"/>
            <a:ext cx="892042" cy="794729"/>
          </a:xfrm>
          <a:custGeom>
            <a:rect b="b" l="l" r="r" t="t"/>
            <a:pathLst>
              <a:path extrusionOk="0" h="794729" w="892042">
                <a:moveTo>
                  <a:pt x="892042" y="0"/>
                </a:moveTo>
                <a:lnTo>
                  <a:pt x="0" y="0"/>
                </a:lnTo>
                <a:lnTo>
                  <a:pt x="0" y="794729"/>
                </a:lnTo>
                <a:lnTo>
                  <a:pt x="892042" y="794729"/>
                </a:lnTo>
                <a:lnTo>
                  <a:pt x="892042" y="0"/>
                </a:lnTo>
                <a:close/>
              </a:path>
            </a:pathLst>
          </a:custGeom>
          <a:blipFill rotWithShape="1">
            <a:blip r:embed="rId4">
              <a:alphaModFix/>
            </a:blip>
            <a:stretch>
              <a:fillRect b="0" l="0" r="0" t="0"/>
            </a:stretch>
          </a:blipFill>
          <a:ln>
            <a:noFill/>
          </a:ln>
        </p:spPr>
      </p:sp>
      <p:sp>
        <p:nvSpPr>
          <p:cNvPr id="226" name="Google Shape;226;p12"/>
          <p:cNvSpPr txBox="1"/>
          <p:nvPr/>
        </p:nvSpPr>
        <p:spPr>
          <a:xfrm>
            <a:off x="6866933" y="5019040"/>
            <a:ext cx="6280075" cy="29654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299" u="none" cap="none" strike="noStrike">
                <a:solidFill>
                  <a:srgbClr val="74040D"/>
                </a:solidFill>
                <a:latin typeface="Montserrat"/>
                <a:ea typeface="Montserrat"/>
                <a:cs typeface="Montserrat"/>
                <a:sym typeface="Montserrat"/>
              </a:rPr>
              <a:t>Fraude</a:t>
            </a:r>
            <a:endParaRPr/>
          </a:p>
        </p:txBody>
      </p:sp>
      <p:sp>
        <p:nvSpPr>
          <p:cNvPr id="227" name="Google Shape;227;p12"/>
          <p:cNvSpPr txBox="1"/>
          <p:nvPr/>
        </p:nvSpPr>
        <p:spPr>
          <a:xfrm>
            <a:off x="1028700" y="3865033"/>
            <a:ext cx="6280075" cy="29654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299" u="none" cap="none" strike="noStrike">
                <a:solidFill>
                  <a:srgbClr val="4242A6"/>
                </a:solidFill>
                <a:latin typeface="Montserrat"/>
                <a:ea typeface="Montserrat"/>
                <a:cs typeface="Montserrat"/>
                <a:sym typeface="Montserrat"/>
              </a:rPr>
              <a:t>Não Fraude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grpSp>
        <p:nvGrpSpPr>
          <p:cNvPr id="232" name="Google Shape;232;p13"/>
          <p:cNvGrpSpPr/>
          <p:nvPr/>
        </p:nvGrpSpPr>
        <p:grpSpPr>
          <a:xfrm>
            <a:off x="10283485" y="-216991"/>
            <a:ext cx="8820327" cy="10767376"/>
            <a:chOff x="0" y="-57150"/>
            <a:chExt cx="2323049" cy="2835852"/>
          </a:xfrm>
        </p:grpSpPr>
        <p:sp>
          <p:nvSpPr>
            <p:cNvPr id="233" name="Google Shape;233;p13"/>
            <p:cNvSpPr/>
            <p:nvPr/>
          </p:nvSpPr>
          <p:spPr>
            <a:xfrm>
              <a:off x="0" y="0"/>
              <a:ext cx="2323049" cy="2778702"/>
            </a:xfrm>
            <a:custGeom>
              <a:rect b="b" l="l" r="r" t="t"/>
              <a:pathLst>
                <a:path extrusionOk="0" h="2778702" w="2323049">
                  <a:moveTo>
                    <a:pt x="0" y="0"/>
                  </a:moveTo>
                  <a:lnTo>
                    <a:pt x="2323049" y="0"/>
                  </a:lnTo>
                  <a:lnTo>
                    <a:pt x="2323049" y="2778702"/>
                  </a:lnTo>
                  <a:lnTo>
                    <a:pt x="0" y="2778702"/>
                  </a:lnTo>
                  <a:close/>
                </a:path>
              </a:pathLst>
            </a:custGeom>
            <a:solidFill>
              <a:srgbClr val="434343"/>
            </a:solidFill>
            <a:ln>
              <a:noFill/>
            </a:ln>
          </p:spPr>
        </p:sp>
        <p:sp>
          <p:nvSpPr>
            <p:cNvPr id="234" name="Google Shape;234;p13"/>
            <p:cNvSpPr txBox="1"/>
            <p:nvPr/>
          </p:nvSpPr>
          <p:spPr>
            <a:xfrm>
              <a:off x="0" y="-57150"/>
              <a:ext cx="2323049" cy="2835852"/>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5" name="Google Shape;235;p13"/>
          <p:cNvGrpSpPr/>
          <p:nvPr/>
        </p:nvGrpSpPr>
        <p:grpSpPr>
          <a:xfrm>
            <a:off x="-1877587" y="-2489088"/>
            <a:ext cx="22085340" cy="3462486"/>
            <a:chOff x="0" y="-57150"/>
            <a:chExt cx="5816715" cy="911931"/>
          </a:xfrm>
        </p:grpSpPr>
        <p:sp>
          <p:nvSpPr>
            <p:cNvPr id="236" name="Google Shape;236;p13"/>
            <p:cNvSpPr/>
            <p:nvPr/>
          </p:nvSpPr>
          <p:spPr>
            <a:xfrm>
              <a:off x="0" y="0"/>
              <a:ext cx="5816715" cy="854781"/>
            </a:xfrm>
            <a:custGeom>
              <a:rect b="b" l="l" r="r" t="t"/>
              <a:pathLst>
                <a:path extrusionOk="0" h="854781" w="5816715">
                  <a:moveTo>
                    <a:pt x="0" y="0"/>
                  </a:moveTo>
                  <a:lnTo>
                    <a:pt x="5816715" y="0"/>
                  </a:lnTo>
                  <a:lnTo>
                    <a:pt x="5816715" y="854781"/>
                  </a:lnTo>
                  <a:lnTo>
                    <a:pt x="0" y="854781"/>
                  </a:lnTo>
                  <a:close/>
                </a:path>
              </a:pathLst>
            </a:custGeom>
            <a:solidFill>
              <a:srgbClr val="FFD966"/>
            </a:solidFill>
            <a:ln>
              <a:noFill/>
            </a:ln>
          </p:spPr>
        </p:sp>
        <p:sp>
          <p:nvSpPr>
            <p:cNvPr id="237" name="Google Shape;237;p13"/>
            <p:cNvSpPr txBox="1"/>
            <p:nvPr/>
          </p:nvSpPr>
          <p:spPr>
            <a:xfrm>
              <a:off x="0" y="-57150"/>
              <a:ext cx="5816715" cy="91193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8" name="Google Shape;238;p13"/>
          <p:cNvSpPr/>
          <p:nvPr/>
        </p:nvSpPr>
        <p:spPr>
          <a:xfrm>
            <a:off x="711451" y="3120319"/>
            <a:ext cx="7999610" cy="6137981"/>
          </a:xfrm>
          <a:custGeom>
            <a:rect b="b" l="l" r="r" t="t"/>
            <a:pathLst>
              <a:path extrusionOk="0" h="6137981" w="7999610">
                <a:moveTo>
                  <a:pt x="0" y="0"/>
                </a:moveTo>
                <a:lnTo>
                  <a:pt x="7999610" y="0"/>
                </a:lnTo>
                <a:lnTo>
                  <a:pt x="7999610" y="6137981"/>
                </a:lnTo>
                <a:lnTo>
                  <a:pt x="0" y="6137981"/>
                </a:lnTo>
                <a:lnTo>
                  <a:pt x="0" y="0"/>
                </a:lnTo>
                <a:close/>
              </a:path>
            </a:pathLst>
          </a:custGeom>
          <a:blipFill rotWithShape="1">
            <a:blip r:embed="rId3">
              <a:alphaModFix/>
            </a:blip>
            <a:stretch>
              <a:fillRect b="0" l="0" r="0" t="0"/>
            </a:stretch>
          </a:blipFill>
          <a:ln>
            <a:noFill/>
          </a:ln>
        </p:spPr>
      </p:sp>
      <p:sp>
        <p:nvSpPr>
          <p:cNvPr id="239" name="Google Shape;239;p13"/>
          <p:cNvSpPr txBox="1"/>
          <p:nvPr/>
        </p:nvSpPr>
        <p:spPr>
          <a:xfrm>
            <a:off x="711451" y="1257864"/>
            <a:ext cx="10963021" cy="109474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399" u="none" cap="none" strike="noStrike">
                <a:solidFill>
                  <a:srgbClr val="434343"/>
                </a:solidFill>
                <a:latin typeface="Fraunces"/>
                <a:ea typeface="Fraunces"/>
                <a:cs typeface="Fraunces"/>
                <a:sym typeface="Fraunces"/>
              </a:rPr>
              <a:t>Modelo Treinado</a:t>
            </a:r>
            <a:endParaRPr/>
          </a:p>
        </p:txBody>
      </p:sp>
      <p:sp>
        <p:nvSpPr>
          <p:cNvPr id="240" name="Google Shape;240;p13"/>
          <p:cNvSpPr txBox="1"/>
          <p:nvPr/>
        </p:nvSpPr>
        <p:spPr>
          <a:xfrm>
            <a:off x="15160864" y="8862060"/>
            <a:ext cx="2098436" cy="39624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0" i="0" lang="en-US" sz="2400" u="none" cap="none" strike="noStrike">
                <a:solidFill>
                  <a:srgbClr val="434343"/>
                </a:solidFill>
                <a:latin typeface="Fraunces Light"/>
                <a:ea typeface="Fraunces Light"/>
                <a:cs typeface="Fraunces Light"/>
                <a:sym typeface="Fraunces Light"/>
              </a:rPr>
              <a:t>3</a:t>
            </a:r>
            <a:endParaRPr/>
          </a:p>
        </p:txBody>
      </p:sp>
      <p:sp>
        <p:nvSpPr>
          <p:cNvPr id="241" name="Google Shape;241;p13"/>
          <p:cNvSpPr txBox="1"/>
          <p:nvPr/>
        </p:nvSpPr>
        <p:spPr>
          <a:xfrm>
            <a:off x="10733120" y="2989603"/>
            <a:ext cx="7308900" cy="649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45" u="none" cap="none" strike="noStrike">
                <a:solidFill>
                  <a:srgbClr val="FFFFFF"/>
                </a:solidFill>
                <a:latin typeface="Montserrat"/>
                <a:ea typeface="Montserrat"/>
                <a:cs typeface="Montserrat"/>
                <a:sym typeface="Montserrat"/>
              </a:rPr>
              <a:t>Para cada threshold do modelo anterior, calculou-se a receita e a perda em fraude. Para o dataset de treino, o maior lucro calculado foi para o threshold de </a:t>
            </a:r>
            <a:r>
              <a:rPr lang="en-US" sz="3245">
                <a:solidFill>
                  <a:srgbClr val="FFFFFF"/>
                </a:solidFill>
                <a:latin typeface="Montserrat"/>
                <a:ea typeface="Montserrat"/>
                <a:cs typeface="Montserrat"/>
                <a:sym typeface="Montserrat"/>
              </a:rPr>
              <a:t>xxx</a:t>
            </a:r>
            <a:r>
              <a:rPr b="0" i="0" lang="en-US" sz="3245" u="none" cap="none" strike="noStrike">
                <a:solidFill>
                  <a:srgbClr val="FFFFFF"/>
                </a:solidFill>
                <a:latin typeface="Montserrat"/>
                <a:ea typeface="Montserrat"/>
                <a:cs typeface="Montserrat"/>
                <a:sym typeface="Montserrat"/>
              </a:rPr>
              <a:t>.</a:t>
            </a:r>
            <a:endParaRPr/>
          </a:p>
          <a:p>
            <a:pPr indent="0" lvl="0" marL="0" marR="0" rtl="0" algn="l">
              <a:lnSpc>
                <a:spcPct val="100000"/>
              </a:lnSpc>
              <a:spcBef>
                <a:spcPts val="0"/>
              </a:spcBef>
              <a:spcAft>
                <a:spcPts val="0"/>
              </a:spcAft>
              <a:buNone/>
            </a:pPr>
            <a:r>
              <a:rPr b="0" i="0" lang="en-US" sz="3245" u="none" cap="none" strike="noStrike">
                <a:solidFill>
                  <a:srgbClr val="FFFFFF"/>
                </a:solidFill>
                <a:latin typeface="Montserrat"/>
                <a:ea typeface="Montserrat"/>
                <a:cs typeface="Montserrat"/>
                <a:sym typeface="Montserrat"/>
              </a:rPr>
              <a:t>No conjunto de teste, obtivemos:</a:t>
            </a:r>
            <a:endParaRPr/>
          </a:p>
          <a:p>
            <a:pPr indent="0" lvl="0" marL="0" marR="0" rtl="0" algn="l">
              <a:lnSpc>
                <a:spcPct val="100000"/>
              </a:lnSpc>
              <a:spcBef>
                <a:spcPts val="0"/>
              </a:spcBef>
              <a:spcAft>
                <a:spcPts val="0"/>
              </a:spcAft>
              <a:buNone/>
            </a:pPr>
            <a:r>
              <a:t/>
            </a:r>
            <a:endParaRPr b="0" i="0" sz="3245" u="none" cap="none" strike="noStrike">
              <a:solidFill>
                <a:srgbClr val="FFFFFF"/>
              </a:solidFill>
              <a:latin typeface="Montserrat"/>
              <a:ea typeface="Montserrat"/>
              <a:cs typeface="Montserrat"/>
              <a:sym typeface="Montserrat"/>
            </a:endParaRPr>
          </a:p>
          <a:p>
            <a:pPr indent="0" lvl="0" marL="0" marR="0" rtl="0" algn="l">
              <a:lnSpc>
                <a:spcPct val="100000"/>
              </a:lnSpc>
              <a:spcBef>
                <a:spcPts val="0"/>
              </a:spcBef>
              <a:spcAft>
                <a:spcPts val="0"/>
              </a:spcAft>
              <a:buNone/>
            </a:pPr>
            <a:r>
              <a:rPr b="1" i="0" lang="en-US" sz="3245" u="none" cap="none" strike="noStrike">
                <a:solidFill>
                  <a:srgbClr val="FFFFFF"/>
                </a:solidFill>
                <a:latin typeface="Montserrat"/>
                <a:ea typeface="Montserrat"/>
                <a:cs typeface="Montserrat"/>
                <a:sym typeface="Montserrat"/>
              </a:rPr>
              <a:t>Lucro</a:t>
            </a:r>
            <a:r>
              <a:rPr b="0" i="0" lang="en-US" sz="3245" u="none" cap="none" strike="noStrike">
                <a:solidFill>
                  <a:srgbClr val="FFFFFF"/>
                </a:solidFill>
                <a:latin typeface="Montserrat"/>
                <a:ea typeface="Montserrat"/>
                <a:cs typeface="Montserrat"/>
                <a:sym typeface="Montserrat"/>
              </a:rPr>
              <a:t>: xx</a:t>
            </a:r>
            <a:endParaRPr sz="3245">
              <a:solidFill>
                <a:srgbClr val="FFFFFF"/>
              </a:solidFill>
              <a:latin typeface="Montserrat"/>
              <a:ea typeface="Montserrat"/>
              <a:cs typeface="Montserrat"/>
              <a:sym typeface="Montserrat"/>
            </a:endParaRPr>
          </a:p>
          <a:p>
            <a:pPr indent="0" lvl="0" marL="0" marR="0" rtl="0" algn="l">
              <a:lnSpc>
                <a:spcPct val="100000"/>
              </a:lnSpc>
              <a:spcBef>
                <a:spcPts val="0"/>
              </a:spcBef>
              <a:spcAft>
                <a:spcPts val="0"/>
              </a:spcAft>
              <a:buNone/>
            </a:pPr>
            <a:r>
              <a:rPr b="1" i="0" lang="en-US" sz="3245" u="none" cap="none" strike="noStrike">
                <a:solidFill>
                  <a:srgbClr val="FFFFFF"/>
                </a:solidFill>
                <a:latin typeface="Montserrat"/>
                <a:ea typeface="Montserrat"/>
                <a:cs typeface="Montserrat"/>
                <a:sym typeface="Montserrat"/>
              </a:rPr>
              <a:t>Perda em fraude</a:t>
            </a:r>
            <a:r>
              <a:rPr b="0" i="0" lang="en-US" sz="3245" u="none" cap="none" strike="noStrike">
                <a:solidFill>
                  <a:srgbClr val="FFFFFF"/>
                </a:solidFill>
                <a:latin typeface="Montserrat"/>
                <a:ea typeface="Montserrat"/>
                <a:cs typeface="Montserrat"/>
                <a:sym typeface="Montserrat"/>
              </a:rPr>
              <a:t>: xx</a:t>
            </a:r>
            <a:endParaRPr/>
          </a:p>
          <a:p>
            <a:pPr indent="0" lvl="0" marL="0" marR="0" rtl="0" algn="l">
              <a:lnSpc>
                <a:spcPct val="100000"/>
              </a:lnSpc>
              <a:spcBef>
                <a:spcPts val="0"/>
              </a:spcBef>
              <a:spcAft>
                <a:spcPts val="0"/>
              </a:spcAft>
              <a:buNone/>
            </a:pPr>
            <a:r>
              <a:rPr b="1" i="0" lang="en-US" sz="3245" u="none" cap="none" strike="noStrike">
                <a:solidFill>
                  <a:srgbClr val="FFFFFF"/>
                </a:solidFill>
                <a:latin typeface="Montserrat"/>
                <a:ea typeface="Montserrat"/>
                <a:cs typeface="Montserrat"/>
                <a:sym typeface="Montserrat"/>
              </a:rPr>
              <a:t>Receita</a:t>
            </a:r>
            <a:r>
              <a:rPr b="0" i="0" lang="en-US" sz="3245" u="none" cap="none" strike="noStrike">
                <a:solidFill>
                  <a:srgbClr val="FFFFFF"/>
                </a:solidFill>
                <a:latin typeface="Montserrat"/>
                <a:ea typeface="Montserrat"/>
                <a:cs typeface="Montserrat"/>
                <a:sym typeface="Montserrat"/>
              </a:rPr>
              <a:t>:</a:t>
            </a:r>
            <a:r>
              <a:rPr lang="en-US" sz="3245">
                <a:solidFill>
                  <a:srgbClr val="FFFFFF"/>
                </a:solidFill>
                <a:latin typeface="Montserrat"/>
                <a:ea typeface="Montserrat"/>
                <a:cs typeface="Montserrat"/>
                <a:sym typeface="Montserrat"/>
              </a:rPr>
              <a:t> xx</a:t>
            </a:r>
            <a:endParaRPr/>
          </a:p>
          <a:p>
            <a:pPr indent="0" lvl="0" marL="0" marR="0" rtl="0" algn="l">
              <a:lnSpc>
                <a:spcPct val="100000"/>
              </a:lnSpc>
              <a:spcBef>
                <a:spcPts val="0"/>
              </a:spcBef>
              <a:spcAft>
                <a:spcPts val="0"/>
              </a:spcAft>
              <a:buNone/>
            </a:pPr>
            <a:r>
              <a:rPr b="1" i="0" lang="en-US" sz="3245" u="none" cap="none" strike="noStrike">
                <a:solidFill>
                  <a:srgbClr val="FFFFFF"/>
                </a:solidFill>
                <a:latin typeface="Montserrat"/>
                <a:ea typeface="Montserrat"/>
                <a:cs typeface="Montserrat"/>
                <a:sym typeface="Montserrat"/>
              </a:rPr>
              <a:t>Taxa de fraude</a:t>
            </a:r>
            <a:r>
              <a:rPr b="0" i="0" lang="en-US" sz="3245" u="none" cap="none" strike="noStrike">
                <a:solidFill>
                  <a:srgbClr val="FFFFFF"/>
                </a:solidFill>
                <a:latin typeface="Montserrat"/>
                <a:ea typeface="Montserrat"/>
                <a:cs typeface="Montserrat"/>
                <a:sym typeface="Montserrat"/>
              </a:rPr>
              <a:t>: </a:t>
            </a:r>
            <a:r>
              <a:rPr lang="en-US" sz="3245">
                <a:solidFill>
                  <a:srgbClr val="FFFFFF"/>
                </a:solidFill>
                <a:latin typeface="Montserrat"/>
                <a:ea typeface="Montserrat"/>
                <a:cs typeface="Montserrat"/>
                <a:sym typeface="Montserrat"/>
              </a:rPr>
              <a:t>xx</a:t>
            </a:r>
            <a:endParaRPr/>
          </a:p>
          <a:p>
            <a:pPr indent="0" lvl="0" marL="0" marR="0" rtl="0" algn="l">
              <a:lnSpc>
                <a:spcPct val="100000"/>
              </a:lnSpc>
              <a:spcBef>
                <a:spcPts val="0"/>
              </a:spcBef>
              <a:spcAft>
                <a:spcPts val="0"/>
              </a:spcAft>
              <a:buNone/>
            </a:pPr>
            <a:r>
              <a:rPr b="1" i="0" lang="en-US" sz="3245" u="none" cap="none" strike="noStrike">
                <a:solidFill>
                  <a:srgbClr val="FFFFFF"/>
                </a:solidFill>
                <a:latin typeface="Montserrat"/>
                <a:ea typeface="Montserrat"/>
                <a:cs typeface="Montserrat"/>
                <a:sym typeface="Montserrat"/>
              </a:rPr>
              <a:t>Taxa de aprovação</a:t>
            </a:r>
            <a:r>
              <a:rPr b="0" i="0" lang="en-US" sz="3245" u="none" cap="none" strike="noStrike">
                <a:solidFill>
                  <a:srgbClr val="FFFFFF"/>
                </a:solidFill>
                <a:latin typeface="Montserrat"/>
                <a:ea typeface="Montserrat"/>
                <a:cs typeface="Montserrat"/>
                <a:sym typeface="Montserrat"/>
              </a:rPr>
              <a:t>: </a:t>
            </a:r>
            <a:r>
              <a:rPr lang="en-US" sz="3245">
                <a:solidFill>
                  <a:srgbClr val="FFFFFF"/>
                </a:solidFill>
                <a:latin typeface="Montserrat"/>
                <a:ea typeface="Montserrat"/>
                <a:cs typeface="Montserrat"/>
                <a:sym typeface="Montserrat"/>
              </a:rPr>
              <a:t>xx</a:t>
            </a:r>
            <a:endParaRPr/>
          </a:p>
          <a:p>
            <a:pPr indent="0" lvl="0" marL="0" marR="0" rtl="0" algn="l">
              <a:lnSpc>
                <a:spcPct val="100000"/>
              </a:lnSpc>
              <a:spcBef>
                <a:spcPts val="0"/>
              </a:spcBef>
              <a:spcAft>
                <a:spcPts val="0"/>
              </a:spcAft>
              <a:buNone/>
            </a:pPr>
            <a:r>
              <a:t/>
            </a:r>
            <a:endParaRPr b="0" i="0" sz="3245"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grpSp>
        <p:nvGrpSpPr>
          <p:cNvPr id="246" name="Google Shape;246;p14"/>
          <p:cNvGrpSpPr/>
          <p:nvPr/>
        </p:nvGrpSpPr>
        <p:grpSpPr>
          <a:xfrm>
            <a:off x="-1877587" y="-2489088"/>
            <a:ext cx="22085340" cy="3462486"/>
            <a:chOff x="0" y="-57150"/>
            <a:chExt cx="5816715" cy="911931"/>
          </a:xfrm>
        </p:grpSpPr>
        <p:sp>
          <p:nvSpPr>
            <p:cNvPr id="247" name="Google Shape;247;p14"/>
            <p:cNvSpPr/>
            <p:nvPr/>
          </p:nvSpPr>
          <p:spPr>
            <a:xfrm>
              <a:off x="0" y="0"/>
              <a:ext cx="5816715" cy="854781"/>
            </a:xfrm>
            <a:custGeom>
              <a:rect b="b" l="l" r="r" t="t"/>
              <a:pathLst>
                <a:path extrusionOk="0" h="854781" w="5816715">
                  <a:moveTo>
                    <a:pt x="0" y="0"/>
                  </a:moveTo>
                  <a:lnTo>
                    <a:pt x="5816715" y="0"/>
                  </a:lnTo>
                  <a:lnTo>
                    <a:pt x="5816715" y="854781"/>
                  </a:lnTo>
                  <a:lnTo>
                    <a:pt x="0" y="854781"/>
                  </a:lnTo>
                  <a:close/>
                </a:path>
              </a:pathLst>
            </a:custGeom>
            <a:solidFill>
              <a:srgbClr val="FFD966"/>
            </a:solidFill>
            <a:ln>
              <a:noFill/>
            </a:ln>
          </p:spPr>
        </p:sp>
        <p:sp>
          <p:nvSpPr>
            <p:cNvPr id="248" name="Google Shape;248;p14"/>
            <p:cNvSpPr txBox="1"/>
            <p:nvPr/>
          </p:nvSpPr>
          <p:spPr>
            <a:xfrm>
              <a:off x="0" y="-57150"/>
              <a:ext cx="5816715" cy="91193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9" name="Google Shape;249;p14"/>
          <p:cNvGrpSpPr/>
          <p:nvPr/>
        </p:nvGrpSpPr>
        <p:grpSpPr>
          <a:xfrm>
            <a:off x="514568" y="3204389"/>
            <a:ext cx="4166272" cy="5425056"/>
            <a:chOff x="0" y="-57150"/>
            <a:chExt cx="1097290" cy="1428822"/>
          </a:xfrm>
        </p:grpSpPr>
        <p:sp>
          <p:nvSpPr>
            <p:cNvPr id="250" name="Google Shape;250;p14"/>
            <p:cNvSpPr/>
            <p:nvPr/>
          </p:nvSpPr>
          <p:spPr>
            <a:xfrm>
              <a:off x="0" y="0"/>
              <a:ext cx="1097290" cy="1371672"/>
            </a:xfrm>
            <a:custGeom>
              <a:rect b="b" l="l" r="r" t="t"/>
              <a:pathLst>
                <a:path extrusionOk="0" h="1371672" w="1097290">
                  <a:moveTo>
                    <a:pt x="0" y="0"/>
                  </a:moveTo>
                  <a:lnTo>
                    <a:pt x="1097290" y="0"/>
                  </a:lnTo>
                  <a:lnTo>
                    <a:pt x="1097290" y="1371672"/>
                  </a:lnTo>
                  <a:lnTo>
                    <a:pt x="0" y="1371672"/>
                  </a:lnTo>
                  <a:close/>
                </a:path>
              </a:pathLst>
            </a:custGeom>
            <a:solidFill>
              <a:srgbClr val="FAE39C"/>
            </a:solidFill>
            <a:ln>
              <a:noFill/>
            </a:ln>
          </p:spPr>
        </p:sp>
        <p:sp>
          <p:nvSpPr>
            <p:cNvPr id="251" name="Google Shape;251;p14"/>
            <p:cNvSpPr txBox="1"/>
            <p:nvPr/>
          </p:nvSpPr>
          <p:spPr>
            <a:xfrm>
              <a:off x="0" y="-57150"/>
              <a:ext cx="1097290" cy="1428822"/>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2" name="Google Shape;252;p14"/>
          <p:cNvSpPr txBox="1"/>
          <p:nvPr/>
        </p:nvSpPr>
        <p:spPr>
          <a:xfrm>
            <a:off x="9944874" y="7544725"/>
            <a:ext cx="2098436" cy="39624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0" i="0" lang="en-US" sz="2400" u="none" cap="none" strike="noStrike">
                <a:solidFill>
                  <a:srgbClr val="434343"/>
                </a:solidFill>
                <a:latin typeface="Fraunces Light"/>
                <a:ea typeface="Fraunces Light"/>
                <a:cs typeface="Fraunces Light"/>
                <a:sym typeface="Fraunces Light"/>
              </a:rPr>
              <a:t>3</a:t>
            </a:r>
            <a:endParaRPr/>
          </a:p>
        </p:txBody>
      </p:sp>
      <p:grpSp>
        <p:nvGrpSpPr>
          <p:cNvPr id="253" name="Google Shape;253;p14"/>
          <p:cNvGrpSpPr/>
          <p:nvPr/>
        </p:nvGrpSpPr>
        <p:grpSpPr>
          <a:xfrm>
            <a:off x="5359799" y="3800501"/>
            <a:ext cx="4390452" cy="2124365"/>
            <a:chOff x="0" y="-57150"/>
            <a:chExt cx="1156333" cy="559503"/>
          </a:xfrm>
        </p:grpSpPr>
        <p:sp>
          <p:nvSpPr>
            <p:cNvPr id="254" name="Google Shape;254;p14"/>
            <p:cNvSpPr/>
            <p:nvPr/>
          </p:nvSpPr>
          <p:spPr>
            <a:xfrm>
              <a:off x="0" y="0"/>
              <a:ext cx="1156333" cy="502353"/>
            </a:xfrm>
            <a:custGeom>
              <a:rect b="b" l="l" r="r" t="t"/>
              <a:pathLst>
                <a:path extrusionOk="0" h="502353" w="1156333">
                  <a:moveTo>
                    <a:pt x="0" y="0"/>
                  </a:moveTo>
                  <a:lnTo>
                    <a:pt x="1156333" y="0"/>
                  </a:lnTo>
                  <a:lnTo>
                    <a:pt x="1156333" y="502353"/>
                  </a:lnTo>
                  <a:lnTo>
                    <a:pt x="0" y="502353"/>
                  </a:lnTo>
                  <a:close/>
                </a:path>
              </a:pathLst>
            </a:custGeom>
            <a:solidFill>
              <a:srgbClr val="FAE39C"/>
            </a:solidFill>
            <a:ln>
              <a:noFill/>
            </a:ln>
          </p:spPr>
        </p:sp>
        <p:sp>
          <p:nvSpPr>
            <p:cNvPr id="255" name="Google Shape;255;p14"/>
            <p:cNvSpPr txBox="1"/>
            <p:nvPr/>
          </p:nvSpPr>
          <p:spPr>
            <a:xfrm>
              <a:off x="0" y="-57150"/>
              <a:ext cx="1156333" cy="55950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6" name="Google Shape;256;p14"/>
          <p:cNvGrpSpPr/>
          <p:nvPr/>
        </p:nvGrpSpPr>
        <p:grpSpPr>
          <a:xfrm>
            <a:off x="5359799" y="6117449"/>
            <a:ext cx="4390452" cy="2124365"/>
            <a:chOff x="0" y="-57150"/>
            <a:chExt cx="1156333" cy="559503"/>
          </a:xfrm>
        </p:grpSpPr>
        <p:sp>
          <p:nvSpPr>
            <p:cNvPr id="257" name="Google Shape;257;p14"/>
            <p:cNvSpPr/>
            <p:nvPr/>
          </p:nvSpPr>
          <p:spPr>
            <a:xfrm>
              <a:off x="0" y="0"/>
              <a:ext cx="1156333" cy="502353"/>
            </a:xfrm>
            <a:custGeom>
              <a:rect b="b" l="l" r="r" t="t"/>
              <a:pathLst>
                <a:path extrusionOk="0" h="502353" w="1156333">
                  <a:moveTo>
                    <a:pt x="0" y="0"/>
                  </a:moveTo>
                  <a:lnTo>
                    <a:pt x="1156333" y="0"/>
                  </a:lnTo>
                  <a:lnTo>
                    <a:pt x="1156333" y="502353"/>
                  </a:lnTo>
                  <a:lnTo>
                    <a:pt x="0" y="502353"/>
                  </a:lnTo>
                  <a:close/>
                </a:path>
              </a:pathLst>
            </a:custGeom>
            <a:solidFill>
              <a:srgbClr val="FAE39C"/>
            </a:solidFill>
            <a:ln>
              <a:noFill/>
            </a:ln>
          </p:spPr>
        </p:sp>
        <p:sp>
          <p:nvSpPr>
            <p:cNvPr id="258" name="Google Shape;258;p14"/>
            <p:cNvSpPr txBox="1"/>
            <p:nvPr/>
          </p:nvSpPr>
          <p:spPr>
            <a:xfrm>
              <a:off x="0" y="-57150"/>
              <a:ext cx="1156333" cy="55950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9" name="Google Shape;259;p14"/>
          <p:cNvGrpSpPr/>
          <p:nvPr/>
        </p:nvGrpSpPr>
        <p:grpSpPr>
          <a:xfrm>
            <a:off x="10429210" y="3204389"/>
            <a:ext cx="4166272" cy="5425056"/>
            <a:chOff x="0" y="-57150"/>
            <a:chExt cx="1097290" cy="1428822"/>
          </a:xfrm>
        </p:grpSpPr>
        <p:sp>
          <p:nvSpPr>
            <p:cNvPr id="260" name="Google Shape;260;p14"/>
            <p:cNvSpPr/>
            <p:nvPr/>
          </p:nvSpPr>
          <p:spPr>
            <a:xfrm>
              <a:off x="0" y="0"/>
              <a:ext cx="1097290" cy="1371672"/>
            </a:xfrm>
            <a:custGeom>
              <a:rect b="b" l="l" r="r" t="t"/>
              <a:pathLst>
                <a:path extrusionOk="0" h="1371672" w="1097290">
                  <a:moveTo>
                    <a:pt x="0" y="0"/>
                  </a:moveTo>
                  <a:lnTo>
                    <a:pt x="1097290" y="0"/>
                  </a:lnTo>
                  <a:lnTo>
                    <a:pt x="1097290" y="1371672"/>
                  </a:lnTo>
                  <a:lnTo>
                    <a:pt x="0" y="1371672"/>
                  </a:lnTo>
                  <a:close/>
                </a:path>
              </a:pathLst>
            </a:custGeom>
            <a:solidFill>
              <a:srgbClr val="FAE39C"/>
            </a:solidFill>
            <a:ln>
              <a:noFill/>
            </a:ln>
          </p:spPr>
        </p:sp>
        <p:sp>
          <p:nvSpPr>
            <p:cNvPr id="261" name="Google Shape;261;p14"/>
            <p:cNvSpPr txBox="1"/>
            <p:nvPr/>
          </p:nvSpPr>
          <p:spPr>
            <a:xfrm>
              <a:off x="0" y="-57150"/>
              <a:ext cx="1097290" cy="1428822"/>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2" name="Google Shape;262;p14"/>
          <p:cNvSpPr/>
          <p:nvPr/>
        </p:nvSpPr>
        <p:spPr>
          <a:xfrm flipH="1">
            <a:off x="4768893" y="4427068"/>
            <a:ext cx="502853" cy="953687"/>
          </a:xfrm>
          <a:custGeom>
            <a:rect b="b" l="l" r="r" t="t"/>
            <a:pathLst>
              <a:path extrusionOk="0" h="953687" w="502853">
                <a:moveTo>
                  <a:pt x="502853" y="0"/>
                </a:moveTo>
                <a:lnTo>
                  <a:pt x="0" y="0"/>
                </a:lnTo>
                <a:lnTo>
                  <a:pt x="0" y="953686"/>
                </a:lnTo>
                <a:lnTo>
                  <a:pt x="502853" y="953686"/>
                </a:lnTo>
                <a:lnTo>
                  <a:pt x="502853" y="0"/>
                </a:lnTo>
                <a:close/>
              </a:path>
            </a:pathLst>
          </a:custGeom>
          <a:blipFill rotWithShape="1">
            <a:blip r:embed="rId3">
              <a:alphaModFix/>
            </a:blip>
            <a:stretch>
              <a:fillRect b="0" l="0" r="0" t="0"/>
            </a:stretch>
          </a:blipFill>
          <a:ln>
            <a:noFill/>
          </a:ln>
        </p:spPr>
      </p:sp>
      <p:sp>
        <p:nvSpPr>
          <p:cNvPr id="263" name="Google Shape;263;p14"/>
          <p:cNvSpPr txBox="1"/>
          <p:nvPr/>
        </p:nvSpPr>
        <p:spPr>
          <a:xfrm>
            <a:off x="711451" y="1257864"/>
            <a:ext cx="13842439" cy="109474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0" lang="en-US" sz="6399" u="none" cap="none" strike="noStrike">
                <a:solidFill>
                  <a:srgbClr val="434343"/>
                </a:solidFill>
                <a:latin typeface="Fraunces"/>
                <a:ea typeface="Fraunces"/>
                <a:cs typeface="Fraunces"/>
                <a:sym typeface="Fraunces"/>
              </a:rPr>
              <a:t>Modelo Atual vs Modelo Treinado</a:t>
            </a:r>
            <a:endParaRPr/>
          </a:p>
        </p:txBody>
      </p:sp>
      <p:sp>
        <p:nvSpPr>
          <p:cNvPr id="264" name="Google Shape;264;p14"/>
          <p:cNvSpPr txBox="1"/>
          <p:nvPr/>
        </p:nvSpPr>
        <p:spPr>
          <a:xfrm>
            <a:off x="1028700" y="3601253"/>
            <a:ext cx="3652140" cy="416239"/>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362" u="none" cap="none" strike="noStrike">
                <a:solidFill>
                  <a:srgbClr val="434343"/>
                </a:solidFill>
                <a:latin typeface="Montserrat"/>
                <a:ea typeface="Montserrat"/>
                <a:cs typeface="Montserrat"/>
                <a:sym typeface="Montserrat"/>
              </a:rPr>
              <a:t>No conjunto de teste</a:t>
            </a:r>
            <a:endParaRPr/>
          </a:p>
        </p:txBody>
      </p:sp>
      <p:sp>
        <p:nvSpPr>
          <p:cNvPr id="265" name="Google Shape;265;p14"/>
          <p:cNvSpPr txBox="1"/>
          <p:nvPr/>
        </p:nvSpPr>
        <p:spPr>
          <a:xfrm>
            <a:off x="713917" y="4388968"/>
            <a:ext cx="3649800" cy="6375300"/>
          </a:xfrm>
          <a:prstGeom prst="rect">
            <a:avLst/>
          </a:prstGeom>
          <a:noFill/>
          <a:ln>
            <a:noFill/>
          </a:ln>
        </p:spPr>
        <p:txBody>
          <a:bodyPr anchorCtr="0" anchor="t" bIns="0" lIns="0" spcFirstLastPara="1" rIns="0" wrap="square" tIns="0">
            <a:spAutoFit/>
          </a:bodyPr>
          <a:lstStyle/>
          <a:p>
            <a:pPr indent="0" lvl="0" marL="0" marR="0" rtl="0" algn="l">
              <a:lnSpc>
                <a:spcPct val="140027"/>
              </a:lnSpc>
              <a:spcBef>
                <a:spcPts val="0"/>
              </a:spcBef>
              <a:spcAft>
                <a:spcPts val="0"/>
              </a:spcAft>
              <a:buNone/>
            </a:pPr>
            <a:r>
              <a:rPr b="1" i="0" lang="en-US" sz="2186" u="none" cap="none" strike="noStrike">
                <a:solidFill>
                  <a:srgbClr val="434343"/>
                </a:solidFill>
                <a:latin typeface="Montserrat"/>
                <a:ea typeface="Montserrat"/>
                <a:cs typeface="Montserrat"/>
                <a:sym typeface="Montserrat"/>
              </a:rPr>
              <a:t>Modelo Atual</a:t>
            </a:r>
            <a:r>
              <a:rPr b="0" i="0" lang="en-US" sz="2186" u="none" cap="none" strike="noStrike">
                <a:solidFill>
                  <a:srgbClr val="434343"/>
                </a:solidFill>
                <a:latin typeface="Montserrat"/>
                <a:ea typeface="Montserrat"/>
                <a:cs typeface="Montserrat"/>
                <a:sym typeface="Montserrat"/>
              </a:rPr>
              <a:t>:</a:t>
            </a:r>
            <a:endParaRPr/>
          </a:p>
          <a:p>
            <a:pPr indent="0" lvl="0" marL="0" marR="0" rtl="0" algn="l">
              <a:lnSpc>
                <a:spcPct val="140027"/>
              </a:lnSpc>
              <a:spcBef>
                <a:spcPts val="0"/>
              </a:spcBef>
              <a:spcAft>
                <a:spcPts val="0"/>
              </a:spcAft>
              <a:buNone/>
            </a:pPr>
            <a:r>
              <a:rPr b="1" i="0" lang="en-US" sz="2186" u="none" cap="none" strike="noStrike">
                <a:solidFill>
                  <a:srgbClr val="434343"/>
                </a:solidFill>
                <a:latin typeface="Montserrat"/>
                <a:ea typeface="Montserrat"/>
                <a:cs typeface="Montserrat"/>
                <a:sym typeface="Montserrat"/>
              </a:rPr>
              <a:t>Lucro</a:t>
            </a:r>
            <a:r>
              <a:rPr b="0" i="0" lang="en-US" sz="2186" u="none" cap="none" strike="noStrike">
                <a:solidFill>
                  <a:srgbClr val="434343"/>
                </a:solidFill>
                <a:latin typeface="Montserrat"/>
                <a:ea typeface="Montserrat"/>
                <a:cs typeface="Montserrat"/>
                <a:sym typeface="Montserrat"/>
              </a:rPr>
              <a:t>:  </a:t>
            </a:r>
            <a:r>
              <a:rPr lang="en-US" sz="2186">
                <a:solidFill>
                  <a:srgbClr val="434343"/>
                </a:solidFill>
                <a:latin typeface="Montserrat"/>
                <a:ea typeface="Montserrat"/>
                <a:cs typeface="Montserrat"/>
                <a:sym typeface="Montserrat"/>
              </a:rPr>
              <a:t>X</a:t>
            </a:r>
            <a:endParaRPr/>
          </a:p>
          <a:p>
            <a:pPr indent="0" lvl="0" marL="0" marR="0" rtl="0" algn="l">
              <a:lnSpc>
                <a:spcPct val="140027"/>
              </a:lnSpc>
              <a:spcBef>
                <a:spcPts val="0"/>
              </a:spcBef>
              <a:spcAft>
                <a:spcPts val="0"/>
              </a:spcAft>
              <a:buNone/>
            </a:pPr>
            <a:r>
              <a:rPr b="1" i="0" lang="en-US" sz="2186" u="none" cap="none" strike="noStrike">
                <a:solidFill>
                  <a:srgbClr val="434343"/>
                </a:solidFill>
                <a:latin typeface="Montserrat"/>
                <a:ea typeface="Montserrat"/>
                <a:cs typeface="Montserrat"/>
                <a:sym typeface="Montserrat"/>
              </a:rPr>
              <a:t>Perda em fraude</a:t>
            </a:r>
            <a:r>
              <a:rPr b="0" i="0" lang="en-US" sz="2186" u="none" cap="none" strike="noStrike">
                <a:solidFill>
                  <a:srgbClr val="434343"/>
                </a:solidFill>
                <a:latin typeface="Montserrat"/>
                <a:ea typeface="Montserrat"/>
                <a:cs typeface="Montserrat"/>
                <a:sym typeface="Montserrat"/>
              </a:rPr>
              <a:t>: </a:t>
            </a:r>
            <a:r>
              <a:rPr lang="en-US" sz="2186">
                <a:solidFill>
                  <a:srgbClr val="434343"/>
                </a:solidFill>
                <a:latin typeface="Montserrat"/>
                <a:ea typeface="Montserrat"/>
                <a:cs typeface="Montserrat"/>
                <a:sym typeface="Montserrat"/>
              </a:rPr>
              <a:t>X</a:t>
            </a:r>
            <a:endParaRPr/>
          </a:p>
          <a:p>
            <a:pPr indent="0" lvl="0" marL="0" marR="0" rtl="0" algn="l">
              <a:lnSpc>
                <a:spcPct val="140027"/>
              </a:lnSpc>
              <a:spcBef>
                <a:spcPts val="0"/>
              </a:spcBef>
              <a:spcAft>
                <a:spcPts val="0"/>
              </a:spcAft>
              <a:buNone/>
            </a:pPr>
            <a:r>
              <a:rPr b="1" i="0" lang="en-US" sz="2186" u="none" cap="none" strike="noStrike">
                <a:solidFill>
                  <a:srgbClr val="434343"/>
                </a:solidFill>
                <a:latin typeface="Montserrat"/>
                <a:ea typeface="Montserrat"/>
                <a:cs typeface="Montserrat"/>
                <a:sym typeface="Montserrat"/>
              </a:rPr>
              <a:t>Receita</a:t>
            </a:r>
            <a:r>
              <a:rPr b="0" i="0" lang="en-US" sz="2186" u="none" cap="none" strike="noStrike">
                <a:solidFill>
                  <a:srgbClr val="434343"/>
                </a:solidFill>
                <a:latin typeface="Montserrat"/>
                <a:ea typeface="Montserrat"/>
                <a:cs typeface="Montserrat"/>
                <a:sym typeface="Montserrat"/>
              </a:rPr>
              <a:t>: </a:t>
            </a:r>
            <a:r>
              <a:rPr lang="en-US" sz="2186">
                <a:solidFill>
                  <a:srgbClr val="434343"/>
                </a:solidFill>
                <a:latin typeface="Montserrat"/>
                <a:ea typeface="Montserrat"/>
                <a:cs typeface="Montserrat"/>
                <a:sym typeface="Montserrat"/>
              </a:rPr>
              <a:t>X</a:t>
            </a:r>
            <a:endParaRPr/>
          </a:p>
          <a:p>
            <a:pPr indent="0" lvl="0" marL="0" marR="0" rtl="0" algn="l">
              <a:lnSpc>
                <a:spcPct val="140027"/>
              </a:lnSpc>
              <a:spcBef>
                <a:spcPts val="0"/>
              </a:spcBef>
              <a:spcAft>
                <a:spcPts val="0"/>
              </a:spcAft>
              <a:buNone/>
            </a:pPr>
            <a:r>
              <a:t/>
            </a:r>
            <a:endParaRPr b="0" i="0" sz="2186" u="none" cap="none" strike="noStrike">
              <a:solidFill>
                <a:srgbClr val="434343"/>
              </a:solidFill>
              <a:latin typeface="Montserrat"/>
              <a:ea typeface="Montserrat"/>
              <a:cs typeface="Montserrat"/>
              <a:sym typeface="Montserrat"/>
            </a:endParaRPr>
          </a:p>
          <a:p>
            <a:pPr indent="0" lvl="0" marL="0" marR="0" rtl="0" algn="l">
              <a:lnSpc>
                <a:spcPct val="140027"/>
              </a:lnSpc>
              <a:spcBef>
                <a:spcPts val="0"/>
              </a:spcBef>
              <a:spcAft>
                <a:spcPts val="0"/>
              </a:spcAft>
              <a:buNone/>
            </a:pPr>
            <a:r>
              <a:rPr b="1" i="0" lang="en-US" sz="2186" u="none" cap="none" strike="noStrike">
                <a:solidFill>
                  <a:srgbClr val="434343"/>
                </a:solidFill>
                <a:latin typeface="Montserrat"/>
                <a:ea typeface="Montserrat"/>
                <a:cs typeface="Montserrat"/>
                <a:sym typeface="Montserrat"/>
              </a:rPr>
              <a:t>Modelo Treinado</a:t>
            </a:r>
            <a:r>
              <a:rPr b="0" i="0" lang="en-US" sz="2186" u="none" cap="none" strike="noStrike">
                <a:solidFill>
                  <a:srgbClr val="434343"/>
                </a:solidFill>
                <a:latin typeface="Montserrat"/>
                <a:ea typeface="Montserrat"/>
                <a:cs typeface="Montserrat"/>
                <a:sym typeface="Montserrat"/>
              </a:rPr>
              <a:t>:</a:t>
            </a:r>
            <a:endParaRPr/>
          </a:p>
          <a:p>
            <a:pPr indent="0" lvl="0" marL="0" marR="0" rtl="0" algn="l">
              <a:lnSpc>
                <a:spcPct val="140027"/>
              </a:lnSpc>
              <a:spcBef>
                <a:spcPts val="0"/>
              </a:spcBef>
              <a:spcAft>
                <a:spcPts val="0"/>
              </a:spcAft>
              <a:buNone/>
            </a:pPr>
            <a:r>
              <a:rPr b="1" i="0" lang="en-US" sz="2186" u="none" cap="none" strike="noStrike">
                <a:solidFill>
                  <a:srgbClr val="434343"/>
                </a:solidFill>
                <a:latin typeface="Montserrat"/>
                <a:ea typeface="Montserrat"/>
                <a:cs typeface="Montserrat"/>
                <a:sym typeface="Montserrat"/>
              </a:rPr>
              <a:t>Lucro</a:t>
            </a:r>
            <a:r>
              <a:rPr b="0" i="0" lang="en-US" sz="2186" u="none" cap="none" strike="noStrike">
                <a:solidFill>
                  <a:srgbClr val="434343"/>
                </a:solidFill>
                <a:latin typeface="Montserrat"/>
                <a:ea typeface="Montserrat"/>
                <a:cs typeface="Montserrat"/>
                <a:sym typeface="Montserrat"/>
              </a:rPr>
              <a:t>: </a:t>
            </a:r>
            <a:r>
              <a:rPr lang="en-US" sz="2186">
                <a:solidFill>
                  <a:srgbClr val="434343"/>
                </a:solidFill>
                <a:latin typeface="Montserrat"/>
                <a:ea typeface="Montserrat"/>
                <a:cs typeface="Montserrat"/>
                <a:sym typeface="Montserrat"/>
              </a:rPr>
              <a:t>Y</a:t>
            </a:r>
            <a:endParaRPr/>
          </a:p>
          <a:p>
            <a:pPr indent="0" lvl="0" marL="0" marR="0" rtl="0" algn="l">
              <a:lnSpc>
                <a:spcPct val="140027"/>
              </a:lnSpc>
              <a:spcBef>
                <a:spcPts val="0"/>
              </a:spcBef>
              <a:spcAft>
                <a:spcPts val="0"/>
              </a:spcAft>
              <a:buNone/>
            </a:pPr>
            <a:r>
              <a:rPr b="1" i="0" lang="en-US" sz="2186" u="none" cap="none" strike="noStrike">
                <a:solidFill>
                  <a:srgbClr val="434343"/>
                </a:solidFill>
                <a:latin typeface="Montserrat"/>
                <a:ea typeface="Montserrat"/>
                <a:cs typeface="Montserrat"/>
                <a:sym typeface="Montserrat"/>
              </a:rPr>
              <a:t>Perda em fraude</a:t>
            </a:r>
            <a:r>
              <a:rPr b="0" i="0" lang="en-US" sz="2186" u="none" cap="none" strike="noStrike">
                <a:solidFill>
                  <a:srgbClr val="434343"/>
                </a:solidFill>
                <a:latin typeface="Montserrat"/>
                <a:ea typeface="Montserrat"/>
                <a:cs typeface="Montserrat"/>
                <a:sym typeface="Montserrat"/>
              </a:rPr>
              <a:t>: </a:t>
            </a:r>
            <a:r>
              <a:rPr lang="en-US" sz="2186">
                <a:solidFill>
                  <a:srgbClr val="434343"/>
                </a:solidFill>
                <a:latin typeface="Montserrat"/>
                <a:ea typeface="Montserrat"/>
                <a:cs typeface="Montserrat"/>
                <a:sym typeface="Montserrat"/>
              </a:rPr>
              <a:t>Y</a:t>
            </a:r>
            <a:endParaRPr/>
          </a:p>
          <a:p>
            <a:pPr indent="0" lvl="0" marL="0" marR="0" rtl="0" algn="l">
              <a:lnSpc>
                <a:spcPct val="140027"/>
              </a:lnSpc>
              <a:spcBef>
                <a:spcPts val="0"/>
              </a:spcBef>
              <a:spcAft>
                <a:spcPts val="0"/>
              </a:spcAft>
              <a:buNone/>
            </a:pPr>
            <a:r>
              <a:rPr b="1" i="0" lang="en-US" sz="2186" u="none" cap="none" strike="noStrike">
                <a:solidFill>
                  <a:srgbClr val="434343"/>
                </a:solidFill>
                <a:latin typeface="Montserrat"/>
                <a:ea typeface="Montserrat"/>
                <a:cs typeface="Montserrat"/>
                <a:sym typeface="Montserrat"/>
              </a:rPr>
              <a:t>Receita</a:t>
            </a:r>
            <a:r>
              <a:rPr b="0" i="0" lang="en-US" sz="2186" u="none" cap="none" strike="noStrike">
                <a:solidFill>
                  <a:srgbClr val="434343"/>
                </a:solidFill>
                <a:latin typeface="Montserrat"/>
                <a:ea typeface="Montserrat"/>
                <a:cs typeface="Montserrat"/>
                <a:sym typeface="Montserrat"/>
              </a:rPr>
              <a:t>: </a:t>
            </a:r>
            <a:r>
              <a:rPr lang="en-US" sz="2186">
                <a:solidFill>
                  <a:srgbClr val="434343"/>
                </a:solidFill>
                <a:latin typeface="Montserrat"/>
                <a:ea typeface="Montserrat"/>
                <a:cs typeface="Montserrat"/>
                <a:sym typeface="Montserrat"/>
              </a:rPr>
              <a:t>Y</a:t>
            </a:r>
            <a:endParaRPr/>
          </a:p>
          <a:p>
            <a:pPr indent="0" lvl="0" marL="0" marR="0" rtl="0" algn="l">
              <a:lnSpc>
                <a:spcPct val="140027"/>
              </a:lnSpc>
              <a:spcBef>
                <a:spcPts val="0"/>
              </a:spcBef>
              <a:spcAft>
                <a:spcPts val="0"/>
              </a:spcAft>
              <a:buNone/>
            </a:pPr>
            <a:r>
              <a:t/>
            </a:r>
            <a:endParaRPr b="0" i="0" sz="2186" u="none" cap="none" strike="noStrike">
              <a:solidFill>
                <a:srgbClr val="434343"/>
              </a:solidFill>
              <a:latin typeface="Montserrat"/>
              <a:ea typeface="Montserrat"/>
              <a:cs typeface="Montserrat"/>
              <a:sym typeface="Montserrat"/>
            </a:endParaRPr>
          </a:p>
          <a:p>
            <a:pPr indent="0" lvl="0" marL="0" marR="0" rtl="0" algn="l">
              <a:lnSpc>
                <a:spcPct val="140027"/>
              </a:lnSpc>
              <a:spcBef>
                <a:spcPts val="0"/>
              </a:spcBef>
              <a:spcAft>
                <a:spcPts val="0"/>
              </a:spcAft>
              <a:buNone/>
            </a:pPr>
            <a:r>
              <a:t/>
            </a:r>
            <a:endParaRPr b="0" i="0" sz="2186" u="none" cap="none" strike="noStrike">
              <a:solidFill>
                <a:srgbClr val="434343"/>
              </a:solidFill>
              <a:latin typeface="Montserrat"/>
              <a:ea typeface="Montserrat"/>
              <a:cs typeface="Montserrat"/>
              <a:sym typeface="Montserrat"/>
            </a:endParaRPr>
          </a:p>
          <a:p>
            <a:pPr indent="0" lvl="0" marL="0" marR="0" rtl="0" algn="l">
              <a:lnSpc>
                <a:spcPct val="127218"/>
              </a:lnSpc>
              <a:spcBef>
                <a:spcPts val="0"/>
              </a:spcBef>
              <a:spcAft>
                <a:spcPts val="0"/>
              </a:spcAft>
              <a:buNone/>
            </a:pPr>
            <a:r>
              <a:t/>
            </a:r>
            <a:endParaRPr b="0" i="0" sz="2186" u="none" cap="none" strike="noStrike">
              <a:solidFill>
                <a:srgbClr val="434343"/>
              </a:solidFill>
              <a:latin typeface="Montserrat"/>
              <a:ea typeface="Montserrat"/>
              <a:cs typeface="Montserrat"/>
              <a:sym typeface="Montserrat"/>
            </a:endParaRPr>
          </a:p>
          <a:p>
            <a:pPr indent="0" lvl="0" marL="0" marR="0" rtl="0" algn="l">
              <a:lnSpc>
                <a:spcPct val="127218"/>
              </a:lnSpc>
              <a:spcBef>
                <a:spcPts val="0"/>
              </a:spcBef>
              <a:spcAft>
                <a:spcPts val="0"/>
              </a:spcAft>
              <a:buNone/>
            </a:pPr>
            <a:r>
              <a:t/>
            </a:r>
            <a:endParaRPr b="0" i="0" sz="2186" u="none" cap="none" strike="noStrike">
              <a:solidFill>
                <a:srgbClr val="434343"/>
              </a:solidFill>
              <a:latin typeface="Montserrat"/>
              <a:ea typeface="Montserrat"/>
              <a:cs typeface="Montserrat"/>
              <a:sym typeface="Montserrat"/>
            </a:endParaRPr>
          </a:p>
          <a:p>
            <a:pPr indent="0" lvl="0" marL="0" marR="0" rtl="0" algn="l">
              <a:lnSpc>
                <a:spcPct val="127218"/>
              </a:lnSpc>
              <a:spcBef>
                <a:spcPts val="0"/>
              </a:spcBef>
              <a:spcAft>
                <a:spcPts val="0"/>
              </a:spcAft>
              <a:buNone/>
            </a:pPr>
            <a:r>
              <a:t/>
            </a:r>
            <a:endParaRPr b="0" i="0" sz="2186" u="none" cap="none" strike="noStrike">
              <a:solidFill>
                <a:srgbClr val="434343"/>
              </a:solidFill>
              <a:latin typeface="Montserrat"/>
              <a:ea typeface="Montserrat"/>
              <a:cs typeface="Montserrat"/>
              <a:sym typeface="Montserrat"/>
            </a:endParaRPr>
          </a:p>
        </p:txBody>
      </p:sp>
      <p:sp>
        <p:nvSpPr>
          <p:cNvPr id="266" name="Google Shape;266;p14"/>
          <p:cNvSpPr txBox="1"/>
          <p:nvPr/>
        </p:nvSpPr>
        <p:spPr>
          <a:xfrm>
            <a:off x="5359799" y="4322293"/>
            <a:ext cx="4390500" cy="8310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lang="en-US" sz="5399">
                <a:solidFill>
                  <a:srgbClr val="434343"/>
                </a:solidFill>
                <a:latin typeface="Montserrat"/>
                <a:ea typeface="Montserrat"/>
                <a:cs typeface="Montserrat"/>
                <a:sym typeface="Montserrat"/>
              </a:rPr>
              <a:t>X</a:t>
            </a:r>
            <a:r>
              <a:rPr b="1" i="0" lang="en-US" sz="5399" u="none" cap="none" strike="noStrike">
                <a:solidFill>
                  <a:srgbClr val="434343"/>
                </a:solidFill>
                <a:latin typeface="Montserrat"/>
                <a:ea typeface="Montserrat"/>
                <a:cs typeface="Montserrat"/>
                <a:sym typeface="Montserrat"/>
              </a:rPr>
              <a:t>%</a:t>
            </a:r>
            <a:endParaRPr/>
          </a:p>
        </p:txBody>
      </p:sp>
      <p:sp>
        <p:nvSpPr>
          <p:cNvPr id="267" name="Google Shape;267;p14"/>
          <p:cNvSpPr txBox="1"/>
          <p:nvPr/>
        </p:nvSpPr>
        <p:spPr>
          <a:xfrm>
            <a:off x="5359799" y="6662710"/>
            <a:ext cx="4390500" cy="8310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lang="en-US" sz="5399">
                <a:solidFill>
                  <a:srgbClr val="434343"/>
                </a:solidFill>
                <a:latin typeface="Montserrat"/>
                <a:ea typeface="Montserrat"/>
                <a:cs typeface="Montserrat"/>
                <a:sym typeface="Montserrat"/>
              </a:rPr>
              <a:t>Y</a:t>
            </a:r>
            <a:r>
              <a:rPr b="1" i="0" lang="en-US" sz="5399" u="none" cap="none" strike="noStrike">
                <a:solidFill>
                  <a:srgbClr val="434343"/>
                </a:solidFill>
                <a:latin typeface="Montserrat"/>
                <a:ea typeface="Montserrat"/>
                <a:cs typeface="Montserrat"/>
                <a:sym typeface="Montserrat"/>
              </a:rPr>
              <a:t>%</a:t>
            </a:r>
            <a:endParaRPr/>
          </a:p>
        </p:txBody>
      </p:sp>
      <p:sp>
        <p:nvSpPr>
          <p:cNvPr id="268" name="Google Shape;268;p14"/>
          <p:cNvSpPr txBox="1"/>
          <p:nvPr/>
        </p:nvSpPr>
        <p:spPr>
          <a:xfrm>
            <a:off x="5359799" y="5135195"/>
            <a:ext cx="4390452" cy="390406"/>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0" i="0" lang="en-US" sz="2254" u="none" cap="none" strike="noStrike">
                <a:solidFill>
                  <a:srgbClr val="434343"/>
                </a:solidFill>
                <a:latin typeface="Montserrat"/>
                <a:ea typeface="Montserrat"/>
                <a:cs typeface="Montserrat"/>
                <a:sym typeface="Montserrat"/>
              </a:rPr>
              <a:t>Lucro/Receita</a:t>
            </a:r>
            <a:endParaRPr/>
          </a:p>
        </p:txBody>
      </p:sp>
      <p:sp>
        <p:nvSpPr>
          <p:cNvPr id="269" name="Google Shape;269;p14"/>
          <p:cNvSpPr txBox="1"/>
          <p:nvPr/>
        </p:nvSpPr>
        <p:spPr>
          <a:xfrm>
            <a:off x="5359799" y="7477534"/>
            <a:ext cx="4390452" cy="390406"/>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0" i="0" lang="en-US" sz="2254" u="none" cap="none" strike="noStrike">
                <a:solidFill>
                  <a:srgbClr val="434343"/>
                </a:solidFill>
                <a:latin typeface="Montserrat"/>
                <a:ea typeface="Montserrat"/>
                <a:cs typeface="Montserrat"/>
                <a:sym typeface="Montserrat"/>
              </a:rPr>
              <a:t>Lucro/Receita</a:t>
            </a:r>
            <a:endParaRPr/>
          </a:p>
        </p:txBody>
      </p:sp>
      <p:sp>
        <p:nvSpPr>
          <p:cNvPr id="270" name="Google Shape;270;p14"/>
          <p:cNvSpPr txBox="1"/>
          <p:nvPr/>
        </p:nvSpPr>
        <p:spPr>
          <a:xfrm>
            <a:off x="10943342" y="3601253"/>
            <a:ext cx="3652140" cy="416239"/>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2362" u="none" cap="none" strike="noStrike">
                <a:solidFill>
                  <a:srgbClr val="434343"/>
                </a:solidFill>
                <a:latin typeface="Montserrat"/>
                <a:ea typeface="Montserrat"/>
                <a:cs typeface="Montserrat"/>
                <a:sym typeface="Montserrat"/>
              </a:rPr>
              <a:t>Após 1 mês*</a:t>
            </a:r>
            <a:endParaRPr/>
          </a:p>
        </p:txBody>
      </p:sp>
      <p:sp>
        <p:nvSpPr>
          <p:cNvPr id="271" name="Google Shape;271;p14"/>
          <p:cNvSpPr txBox="1"/>
          <p:nvPr/>
        </p:nvSpPr>
        <p:spPr>
          <a:xfrm>
            <a:off x="10163438" y="4458734"/>
            <a:ext cx="4390500" cy="19944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399" u="none" cap="none" strike="noStrike">
                <a:solidFill>
                  <a:srgbClr val="434343"/>
                </a:solidFill>
                <a:latin typeface="Montserrat"/>
                <a:ea typeface="Montserrat"/>
                <a:cs typeface="Montserrat"/>
                <a:sym typeface="Montserrat"/>
              </a:rPr>
              <a:t>$ </a:t>
            </a:r>
            <a:r>
              <a:rPr b="1" lang="en-US" sz="5399">
                <a:solidFill>
                  <a:srgbClr val="434343"/>
                </a:solidFill>
                <a:latin typeface="Montserrat"/>
                <a:ea typeface="Montserrat"/>
                <a:cs typeface="Montserrat"/>
                <a:sym typeface="Montserrat"/>
              </a:rPr>
              <a:t>XX</a:t>
            </a:r>
            <a:r>
              <a:rPr b="1" i="0" lang="en-US" sz="5399" u="none" cap="none" strike="noStrike">
                <a:solidFill>
                  <a:srgbClr val="434343"/>
                </a:solidFill>
                <a:latin typeface="Montserrat"/>
                <a:ea typeface="Montserrat"/>
                <a:cs typeface="Montserrat"/>
                <a:sym typeface="Montserrat"/>
              </a:rPr>
              <a:t>.</a:t>
            </a:r>
            <a:r>
              <a:rPr b="1" lang="en-US" sz="5399">
                <a:solidFill>
                  <a:srgbClr val="434343"/>
                </a:solidFill>
                <a:latin typeface="Montserrat"/>
                <a:ea typeface="Montserrat"/>
                <a:cs typeface="Montserrat"/>
                <a:sym typeface="Montserrat"/>
              </a:rPr>
              <a:t>X</a:t>
            </a:r>
            <a:r>
              <a:rPr b="1" i="0" lang="en-US" sz="5399" u="none" cap="none" strike="noStrike">
                <a:solidFill>
                  <a:srgbClr val="434343"/>
                </a:solidFill>
                <a:latin typeface="Montserrat"/>
                <a:ea typeface="Montserrat"/>
                <a:cs typeface="Montserrat"/>
                <a:sym typeface="Montserrat"/>
              </a:rPr>
              <a:t> M</a:t>
            </a:r>
            <a:endParaRPr/>
          </a:p>
          <a:p>
            <a:pPr indent="0" lvl="0" marL="0" marR="0" rtl="0" algn="ctr">
              <a:lnSpc>
                <a:spcPct val="140007"/>
              </a:lnSpc>
              <a:spcBef>
                <a:spcPts val="0"/>
              </a:spcBef>
              <a:spcAft>
                <a:spcPts val="0"/>
              </a:spcAft>
              <a:buNone/>
            </a:pPr>
            <a:r>
              <a:t/>
            </a:r>
            <a:endParaRPr b="1" i="0" sz="5399" u="none" cap="none" strike="noStrike">
              <a:solidFill>
                <a:srgbClr val="434343"/>
              </a:solidFill>
              <a:latin typeface="Montserrat"/>
              <a:ea typeface="Montserrat"/>
              <a:cs typeface="Montserrat"/>
              <a:sym typeface="Montserrat"/>
            </a:endParaRPr>
          </a:p>
        </p:txBody>
      </p:sp>
      <p:sp>
        <p:nvSpPr>
          <p:cNvPr id="272" name="Google Shape;272;p14"/>
          <p:cNvSpPr txBox="1"/>
          <p:nvPr/>
        </p:nvSpPr>
        <p:spPr>
          <a:xfrm>
            <a:off x="10500590" y="6536464"/>
            <a:ext cx="4053300" cy="19944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399" u="none" cap="none" strike="noStrike">
                <a:solidFill>
                  <a:srgbClr val="434343"/>
                </a:solidFill>
                <a:latin typeface="Montserrat"/>
                <a:ea typeface="Montserrat"/>
                <a:cs typeface="Montserrat"/>
                <a:sym typeface="Montserrat"/>
              </a:rPr>
              <a:t>$ </a:t>
            </a:r>
            <a:r>
              <a:rPr b="1" lang="en-US" sz="5399">
                <a:solidFill>
                  <a:srgbClr val="434343"/>
                </a:solidFill>
                <a:latin typeface="Montserrat"/>
                <a:ea typeface="Montserrat"/>
                <a:cs typeface="Montserrat"/>
                <a:sym typeface="Montserrat"/>
              </a:rPr>
              <a:t>YY</a:t>
            </a:r>
            <a:r>
              <a:rPr b="1" i="0" lang="en-US" sz="5399" u="none" cap="none" strike="noStrike">
                <a:solidFill>
                  <a:srgbClr val="434343"/>
                </a:solidFill>
                <a:latin typeface="Montserrat"/>
                <a:ea typeface="Montserrat"/>
                <a:cs typeface="Montserrat"/>
                <a:sym typeface="Montserrat"/>
              </a:rPr>
              <a:t>.</a:t>
            </a:r>
            <a:r>
              <a:rPr b="1" lang="en-US" sz="5399">
                <a:solidFill>
                  <a:srgbClr val="434343"/>
                </a:solidFill>
                <a:latin typeface="Montserrat"/>
                <a:ea typeface="Montserrat"/>
                <a:cs typeface="Montserrat"/>
                <a:sym typeface="Montserrat"/>
              </a:rPr>
              <a:t>Y</a:t>
            </a:r>
            <a:r>
              <a:rPr b="1" i="0" lang="en-US" sz="5399" u="none" cap="none" strike="noStrike">
                <a:solidFill>
                  <a:srgbClr val="434343"/>
                </a:solidFill>
                <a:latin typeface="Montserrat"/>
                <a:ea typeface="Montserrat"/>
                <a:cs typeface="Montserrat"/>
                <a:sym typeface="Montserrat"/>
              </a:rPr>
              <a:t> M</a:t>
            </a:r>
            <a:endParaRPr/>
          </a:p>
          <a:p>
            <a:pPr indent="0" lvl="0" marL="0" marR="0" rtl="0" algn="ctr">
              <a:lnSpc>
                <a:spcPct val="140007"/>
              </a:lnSpc>
              <a:spcBef>
                <a:spcPts val="0"/>
              </a:spcBef>
              <a:spcAft>
                <a:spcPts val="0"/>
              </a:spcAft>
              <a:buNone/>
            </a:pPr>
            <a:r>
              <a:t/>
            </a:r>
            <a:endParaRPr b="1" i="0" sz="5399" u="none" cap="none" strike="noStrike">
              <a:solidFill>
                <a:srgbClr val="434343"/>
              </a:solidFill>
              <a:latin typeface="Montserrat"/>
              <a:ea typeface="Montserrat"/>
              <a:cs typeface="Montserrat"/>
              <a:sym typeface="Montserrat"/>
            </a:endParaRPr>
          </a:p>
        </p:txBody>
      </p:sp>
      <p:sp>
        <p:nvSpPr>
          <p:cNvPr id="273" name="Google Shape;273;p14"/>
          <p:cNvSpPr txBox="1"/>
          <p:nvPr/>
        </p:nvSpPr>
        <p:spPr>
          <a:xfrm>
            <a:off x="10205029" y="5399804"/>
            <a:ext cx="4390452" cy="390406"/>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1" i="0" lang="en-US" sz="2254" u="none" cap="none" strike="noStrike">
                <a:solidFill>
                  <a:srgbClr val="434343"/>
                </a:solidFill>
                <a:latin typeface="Montserrat"/>
                <a:ea typeface="Montserrat"/>
                <a:cs typeface="Montserrat"/>
                <a:sym typeface="Montserrat"/>
              </a:rPr>
              <a:t>Lucro/Mês</a:t>
            </a:r>
            <a:endParaRPr/>
          </a:p>
        </p:txBody>
      </p:sp>
      <p:sp>
        <p:nvSpPr>
          <p:cNvPr id="274" name="Google Shape;274;p14"/>
          <p:cNvSpPr txBox="1"/>
          <p:nvPr/>
        </p:nvSpPr>
        <p:spPr>
          <a:xfrm>
            <a:off x="10429210" y="7477534"/>
            <a:ext cx="4124681" cy="390406"/>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1" i="0" lang="en-US" sz="2254" u="none" cap="none" strike="noStrike">
                <a:solidFill>
                  <a:srgbClr val="434343"/>
                </a:solidFill>
                <a:latin typeface="Montserrat"/>
                <a:ea typeface="Montserrat"/>
                <a:cs typeface="Montserrat"/>
                <a:sym typeface="Montserrat"/>
              </a:rPr>
              <a:t>Lucro/Mês</a:t>
            </a:r>
            <a:endParaRPr/>
          </a:p>
        </p:txBody>
      </p:sp>
      <p:sp>
        <p:nvSpPr>
          <p:cNvPr id="275" name="Google Shape;275;p14"/>
          <p:cNvSpPr txBox="1"/>
          <p:nvPr/>
        </p:nvSpPr>
        <p:spPr>
          <a:xfrm>
            <a:off x="14553890" y="5208592"/>
            <a:ext cx="4390500" cy="19944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399" u="none" cap="none" strike="noStrike">
                <a:solidFill>
                  <a:srgbClr val="434343"/>
                </a:solidFill>
                <a:latin typeface="Montserrat"/>
                <a:ea typeface="Montserrat"/>
                <a:cs typeface="Montserrat"/>
                <a:sym typeface="Montserrat"/>
              </a:rPr>
              <a:t>$ </a:t>
            </a:r>
            <a:r>
              <a:rPr b="1" lang="en-US" sz="5399">
                <a:solidFill>
                  <a:srgbClr val="434343"/>
                </a:solidFill>
                <a:latin typeface="Montserrat"/>
                <a:ea typeface="Montserrat"/>
                <a:cs typeface="Montserrat"/>
                <a:sym typeface="Montserrat"/>
              </a:rPr>
              <a:t>Z</a:t>
            </a:r>
            <a:r>
              <a:rPr b="1" i="0" lang="en-US" sz="5399" u="none" cap="none" strike="noStrike">
                <a:solidFill>
                  <a:srgbClr val="434343"/>
                </a:solidFill>
                <a:latin typeface="Montserrat"/>
                <a:ea typeface="Montserrat"/>
                <a:cs typeface="Montserrat"/>
                <a:sym typeface="Montserrat"/>
              </a:rPr>
              <a:t> M</a:t>
            </a:r>
            <a:endParaRPr/>
          </a:p>
          <a:p>
            <a:pPr indent="0" lvl="0" marL="0" marR="0" rtl="0" algn="ctr">
              <a:lnSpc>
                <a:spcPct val="140007"/>
              </a:lnSpc>
              <a:spcBef>
                <a:spcPts val="0"/>
              </a:spcBef>
              <a:spcAft>
                <a:spcPts val="0"/>
              </a:spcAft>
              <a:buNone/>
            </a:pPr>
            <a:r>
              <a:t/>
            </a:r>
            <a:endParaRPr b="1" i="0" sz="5399" u="none" cap="none" strike="noStrike">
              <a:solidFill>
                <a:srgbClr val="434343"/>
              </a:solidFill>
              <a:latin typeface="Montserrat"/>
              <a:ea typeface="Montserrat"/>
              <a:cs typeface="Montserrat"/>
              <a:sym typeface="Montserrat"/>
            </a:endParaRPr>
          </a:p>
        </p:txBody>
      </p:sp>
      <p:sp>
        <p:nvSpPr>
          <p:cNvPr id="276" name="Google Shape;276;p14"/>
          <p:cNvSpPr txBox="1"/>
          <p:nvPr/>
        </p:nvSpPr>
        <p:spPr>
          <a:xfrm>
            <a:off x="15319830" y="6356065"/>
            <a:ext cx="2794747" cy="1590556"/>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1" i="0" lang="en-US" sz="2254" u="none" cap="none" strike="noStrike">
                <a:solidFill>
                  <a:srgbClr val="434343"/>
                </a:solidFill>
                <a:latin typeface="Montserrat"/>
                <a:ea typeface="Montserrat"/>
                <a:cs typeface="Montserrat"/>
                <a:sym typeface="Montserrat"/>
              </a:rPr>
              <a:t>Aumento de lucro/mês, além de aumento de AUC e taxa de aprovação.</a:t>
            </a:r>
            <a:endParaRPr/>
          </a:p>
        </p:txBody>
      </p:sp>
      <p:sp>
        <p:nvSpPr>
          <p:cNvPr id="277" name="Google Shape;277;p14"/>
          <p:cNvSpPr/>
          <p:nvPr/>
        </p:nvSpPr>
        <p:spPr>
          <a:xfrm flipH="1">
            <a:off x="4768893" y="6742863"/>
            <a:ext cx="502853" cy="953687"/>
          </a:xfrm>
          <a:custGeom>
            <a:rect b="b" l="l" r="r" t="t"/>
            <a:pathLst>
              <a:path extrusionOk="0" h="953687" w="502853">
                <a:moveTo>
                  <a:pt x="502853" y="0"/>
                </a:moveTo>
                <a:lnTo>
                  <a:pt x="0" y="0"/>
                </a:lnTo>
                <a:lnTo>
                  <a:pt x="0" y="953687"/>
                </a:lnTo>
                <a:lnTo>
                  <a:pt x="502853" y="953687"/>
                </a:lnTo>
                <a:lnTo>
                  <a:pt x="502853" y="0"/>
                </a:lnTo>
                <a:close/>
              </a:path>
            </a:pathLst>
          </a:custGeom>
          <a:blipFill rotWithShape="1">
            <a:blip r:embed="rId3">
              <a:alphaModFix/>
            </a:blip>
            <a:stretch>
              <a:fillRect b="0" l="0" r="0" t="0"/>
            </a:stretch>
          </a:blipFill>
          <a:ln>
            <a:noFill/>
          </a:ln>
        </p:spPr>
      </p:sp>
      <p:sp>
        <p:nvSpPr>
          <p:cNvPr id="278" name="Google Shape;278;p14"/>
          <p:cNvSpPr/>
          <p:nvPr/>
        </p:nvSpPr>
        <p:spPr>
          <a:xfrm flipH="1">
            <a:off x="9835976" y="4427068"/>
            <a:ext cx="502853" cy="953687"/>
          </a:xfrm>
          <a:custGeom>
            <a:rect b="b" l="l" r="r" t="t"/>
            <a:pathLst>
              <a:path extrusionOk="0" h="953687" w="502853">
                <a:moveTo>
                  <a:pt x="502853" y="0"/>
                </a:moveTo>
                <a:lnTo>
                  <a:pt x="0" y="0"/>
                </a:lnTo>
                <a:lnTo>
                  <a:pt x="0" y="953686"/>
                </a:lnTo>
                <a:lnTo>
                  <a:pt x="502853" y="953686"/>
                </a:lnTo>
                <a:lnTo>
                  <a:pt x="502853" y="0"/>
                </a:lnTo>
                <a:close/>
              </a:path>
            </a:pathLst>
          </a:custGeom>
          <a:blipFill rotWithShape="1">
            <a:blip r:embed="rId3">
              <a:alphaModFix/>
            </a:blip>
            <a:stretch>
              <a:fillRect b="0" l="0" r="0" t="0"/>
            </a:stretch>
          </a:blipFill>
          <a:ln>
            <a:noFill/>
          </a:ln>
        </p:spPr>
      </p:sp>
      <p:sp>
        <p:nvSpPr>
          <p:cNvPr id="279" name="Google Shape;279;p14"/>
          <p:cNvSpPr/>
          <p:nvPr/>
        </p:nvSpPr>
        <p:spPr>
          <a:xfrm flipH="1">
            <a:off x="9912012" y="6698312"/>
            <a:ext cx="502853" cy="953687"/>
          </a:xfrm>
          <a:custGeom>
            <a:rect b="b" l="l" r="r" t="t"/>
            <a:pathLst>
              <a:path extrusionOk="0" h="953687" w="502853">
                <a:moveTo>
                  <a:pt x="502853" y="0"/>
                </a:moveTo>
                <a:lnTo>
                  <a:pt x="0" y="0"/>
                </a:lnTo>
                <a:lnTo>
                  <a:pt x="0" y="953686"/>
                </a:lnTo>
                <a:lnTo>
                  <a:pt x="502853" y="953686"/>
                </a:lnTo>
                <a:lnTo>
                  <a:pt x="502853" y="0"/>
                </a:lnTo>
                <a:close/>
              </a:path>
            </a:pathLst>
          </a:custGeom>
          <a:blipFill rotWithShape="1">
            <a:blip r:embed="rId3">
              <a:alphaModFix/>
            </a:blip>
            <a:stretch>
              <a:fillRect b="0" l="0" r="0" t="0"/>
            </a:stretch>
          </a:blipFill>
          <a:ln>
            <a:noFill/>
          </a:ln>
        </p:spPr>
      </p:sp>
      <p:sp>
        <p:nvSpPr>
          <p:cNvPr id="280" name="Google Shape;280;p14"/>
          <p:cNvSpPr/>
          <p:nvPr/>
        </p:nvSpPr>
        <p:spPr>
          <a:xfrm flipH="1">
            <a:off x="14816978" y="5313367"/>
            <a:ext cx="502853" cy="953687"/>
          </a:xfrm>
          <a:custGeom>
            <a:rect b="b" l="l" r="r" t="t"/>
            <a:pathLst>
              <a:path extrusionOk="0" h="953687" w="502853">
                <a:moveTo>
                  <a:pt x="502852" y="0"/>
                </a:moveTo>
                <a:lnTo>
                  <a:pt x="0" y="0"/>
                </a:lnTo>
                <a:lnTo>
                  <a:pt x="0" y="953686"/>
                </a:lnTo>
                <a:lnTo>
                  <a:pt x="502852" y="953686"/>
                </a:lnTo>
                <a:lnTo>
                  <a:pt x="502852" y="0"/>
                </a:lnTo>
                <a:close/>
              </a:path>
            </a:pathLst>
          </a:custGeom>
          <a:blipFill rotWithShape="1">
            <a:blip r:embed="rId3">
              <a:alphaModFix/>
            </a:blip>
            <a:stretch>
              <a:fillRect b="0" l="0" r="0" t="0"/>
            </a:stretch>
          </a:blipFill>
          <a:ln>
            <a:noFill/>
          </a:ln>
        </p:spPr>
      </p:sp>
      <p:sp>
        <p:nvSpPr>
          <p:cNvPr id="281" name="Google Shape;281;p14"/>
          <p:cNvSpPr txBox="1"/>
          <p:nvPr/>
        </p:nvSpPr>
        <p:spPr>
          <a:xfrm>
            <a:off x="514568" y="9584242"/>
            <a:ext cx="14039322" cy="347659"/>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0" i="0" lang="en-US" sz="2062" u="none" cap="none" strike="noStrike">
                <a:solidFill>
                  <a:srgbClr val="434343"/>
                </a:solidFill>
                <a:latin typeface="Montserrat"/>
                <a:ea typeface="Montserrat"/>
                <a:cs typeface="Montserrat"/>
                <a:sym typeface="Montserrat"/>
              </a:rPr>
              <a:t>* Considerando 20 M de pagamentos por trimestre e que o valor médio de transação é de $ 43.5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grpSp>
        <p:nvGrpSpPr>
          <p:cNvPr id="286" name="Google Shape;286;p15"/>
          <p:cNvGrpSpPr/>
          <p:nvPr/>
        </p:nvGrpSpPr>
        <p:grpSpPr>
          <a:xfrm>
            <a:off x="-783595" y="9435076"/>
            <a:ext cx="22085340" cy="3106208"/>
            <a:chOff x="0" y="-57150"/>
            <a:chExt cx="5816715" cy="818096"/>
          </a:xfrm>
        </p:grpSpPr>
        <p:sp>
          <p:nvSpPr>
            <p:cNvPr id="287" name="Google Shape;287;p15"/>
            <p:cNvSpPr/>
            <p:nvPr/>
          </p:nvSpPr>
          <p:spPr>
            <a:xfrm>
              <a:off x="0" y="0"/>
              <a:ext cx="5816715" cy="760946"/>
            </a:xfrm>
            <a:custGeom>
              <a:rect b="b" l="l" r="r" t="t"/>
              <a:pathLst>
                <a:path extrusionOk="0" h="760946" w="5816715">
                  <a:moveTo>
                    <a:pt x="0" y="0"/>
                  </a:moveTo>
                  <a:lnTo>
                    <a:pt x="5816715" y="0"/>
                  </a:lnTo>
                  <a:lnTo>
                    <a:pt x="5816715" y="760946"/>
                  </a:lnTo>
                  <a:lnTo>
                    <a:pt x="0" y="760946"/>
                  </a:lnTo>
                  <a:close/>
                </a:path>
              </a:pathLst>
            </a:custGeom>
            <a:solidFill>
              <a:srgbClr val="FFD966"/>
            </a:solidFill>
            <a:ln>
              <a:noFill/>
            </a:ln>
          </p:spPr>
        </p:sp>
        <p:sp>
          <p:nvSpPr>
            <p:cNvPr id="288" name="Google Shape;288;p15"/>
            <p:cNvSpPr txBox="1"/>
            <p:nvPr/>
          </p:nvSpPr>
          <p:spPr>
            <a:xfrm>
              <a:off x="0" y="-57150"/>
              <a:ext cx="5816715" cy="818096"/>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9" name="Google Shape;289;p15"/>
          <p:cNvSpPr txBox="1"/>
          <p:nvPr/>
        </p:nvSpPr>
        <p:spPr>
          <a:xfrm>
            <a:off x="3662490" y="3543300"/>
            <a:ext cx="10963021" cy="1600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2000" u="none" cap="none" strike="noStrike">
                <a:solidFill>
                  <a:srgbClr val="434343"/>
                </a:solidFill>
                <a:latin typeface="Fraunces"/>
                <a:ea typeface="Fraunces"/>
                <a:cs typeface="Fraunces"/>
                <a:sym typeface="Fraunces"/>
              </a:rPr>
              <a:t>Obrigada!</a:t>
            </a:r>
            <a:endParaRPr/>
          </a:p>
        </p:txBody>
      </p:sp>
      <p:sp>
        <p:nvSpPr>
          <p:cNvPr id="290" name="Google Shape;290;p15"/>
          <p:cNvSpPr txBox="1"/>
          <p:nvPr/>
        </p:nvSpPr>
        <p:spPr>
          <a:xfrm>
            <a:off x="3920856" y="5532113"/>
            <a:ext cx="10962900" cy="554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3600">
                <a:solidFill>
                  <a:srgbClr val="434343"/>
                </a:solidFill>
                <a:latin typeface="Fraunces Light"/>
                <a:ea typeface="Fraunces Light"/>
                <a:cs typeface="Fraunces Light"/>
                <a:sym typeface="Fraunces Light"/>
              </a:rPr>
              <a:t>Seu nome + linkedin + email</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